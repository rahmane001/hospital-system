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Welcome. I'm presenting HMS DApp — a Hybrid Hospital Management Decentralised Application built for CN6035 Mobile and Distributed Systems. Over the next ten minutes I'll walk you through what the system does, how it's built, specifically how it interacts with the blockchain, and critically evaluate the design choices I made and where the system could be pushed further.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HMS DApp is a full-stack hospital platform that extends a traditional Node.js backend with a React frontend, a Solidity smart contract, and MetaMask wallet integration. The system supports four distinct user roles: Admin, Doctor, Patient, and Receptionist. The core value proposition is a tamper-proof audit layer — every booking, payment, and prescription is mirrored onto an Ethereum-compatible blockchain, so the backend alone cannot silently alter medical or financial records.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architecture is a three-tier hybrid. React 19 talks to a Node.js Express API via JWT-authenticated REST calls. Express owns business logic, writes to MongoDB for persistent storage, and dispatches web3.js calls to a local Ganache chain. Crucially, the React frontend can also bypass the backend and talk directly to MetaMask via window.ethereum for on-chain payments. Every mutating action therefore produces both a MongoDB write and an on-chain transaction, with the transaction hash stored back on the Mongo document so the two stores can be cross-verified.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On the technology choices — React 19 with Router for role-based SPA routing, recharts for the admin analytics dashboards, jsPDF for exportable bills and prescriptions. The backend is Express 4 with Mongoose schemas, JWT plus bcrypt for auth, node-cron for scheduled slot cleanup, and web3.js for contract calls. Blockchain is Solidity 0.8.19 deployed with Truffle onto Ganache at chain ID 5777. Each tier maps to a distinct architectural layer — Presentation, Application, Persistence, and Consensus — which is how I reasoned about cross-cutting concerns like auth and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smart contract HospitalRecords defines four structs — PatientRecord, AppointmentRecord, BillingRecord, PrescriptionRecord — each keyed by a MongoDB ObjectId string. Writes are gated by an onlyOwner modifier so only the backend's deployer account can append records; this is the centralisation I'll critique later. The exception is payBillOnChain, which is payable — a patient sends ETH directly via MetaMask, the contract marks the bill paid, forwards the ETH to the owner, and emits a PaymentReceived event. This is shown in the Solidity snippet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Here's the end-to-end flow across the stack. A patient POSTs to /api/appointments. Express authenticates the JWT, writes the Appointment document to MongoDB, then calls logAppointment on the contract via web3.js. Ganache mines the transaction and returns a hash — we persist that hash plus a blockchainStatus of 'logged' back onto the Mongo document. If the send fails we now persist a 'failed' status instead of swallowing the error, which I'll come back to on the evaluation slide. Finally a Notification is dispatched to the patient and the Admin Blockchain Verification page can independently call getAppointment on the contract to re-prove the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Payment is where the hybrid design really matters. The standard path — left side — is backend-mediated: the patient clicks Pay, the backend marks the bill paid in Mongo, then logBilling writes a status record on chain. The trust assumption is that the backend is honest. The on-chain path — right side — uses payBillOnChain: the patient signs a transaction in MetaMask, ETH goes from their wallet into the contract, the contract itself flips the bill status and forwards funds to the owner. No backend custody, no backend write. If the backend were compromised it still couldn't forge a payment here. That's what 'fully decentralised payment' actually means in the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table summarises what each role can do. Admin is broadest — analytics, blockchain verification, audit log. Doctor manages their own slots and writes prescriptions. Patient books, pays, and reads. Receptionist handles beds and department allocation. Notice that MetaMask on-chain payment is patient-exclusive — because it's the patient's wallet signing. All roles see in-app notifications polled every thirty seconds, and PDF export is available to everyone who needs to archive a record externally.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captures from the running system. Top-left is the admin overview with recharts-powered analytics for revenue, per-doctor load, diagnosis distribution, and on-chain coverage. Top-centre shows the patient booking a slot. Top-right is MetaMask mid-confirmation during an on-chain bill payment. Bottom-left is the Blockchain Verification page where the admin clicks Run Verification and cross-checks the tx hashes stored in Mongo against getAppointment and getBilling reads directly from Ganache. Bottom-centre is the audit log middleware output. Bottom-right is a jsPDF prescription export, which carries the tx hash in the footer so a paper copy is still verifiable.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Several cross-cutting capabilities tie the system together. Every mutating HTTP request passes through audit middleware that writes an AuditLog entry independently of the blockchain. Notifications fire on booking, payment, and prescription events. jsPDF exports bills and prescriptions. The MetaMask bar at the top of every page detects window.ethereum, shows the connected address and balance, and is the entry point for on-chain payments. JWT with bcrypt and a doctor-approval workflow secures every endpoint, and there's a seed script pre-wiring admin, doctor, and patient accounts to specific Ganache wallets so demos reproduce cleanly.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Now the critical analysis — what I chose and why, where it falls short, and what I would do next. I chose Ganache over Sepolia because the development feedback loop is essentially free — no faucet, no block time — but this means my submission cannot be verified by a tutor on a public explorer; that's a trade-off. The onlyOwner modifier keeps write authority centralised on a single deployer account, which simplifies authentication but reintroduces the trust assumption the blockchain was meant to remove. I don't have an event indexer — so querying historical records at scale means iterating through mappings. Future work: migrate to Sepolia, index events via TheGraph, expand the Jest suite beyond the three coursework-critical paths, introduce a multi-sig deployer, and add input validation middleware using express-validator. These are the concrete next steps, not aspirational bullet points.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slide makes the scope of my contribution explicit for the marker. The master branch is the pristine upstream baseline — a backend-only Node, Express, and MongoDB CRUD application with no blockchain, no React frontend, and no role-aware UI. The main branch is the submission: I layered a React 19 single-page app, a Solidity smart contract deployed to Ganache, web3.js integration, MetaMask payments, recharts analytics, jsPDF exports, audit middleware, notifications, and the entire Task 2 presentation bundle on top. The two branches live on the same GitHub repo so the tutor can diff them directly using the compare URL at the bottom of the slide. 112 files changed, roughly 59-thousand lines added.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slide contains the MS Stream link to the recorded demonstration. Access has been granted to all lab tutors. The recording walks through each of the four roles, an end-to-end booking with the transaction hash appearing live in the Blockchain Verification page, a MetaMask-signed payment, and the audit log.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 summary, HMS DApp extends a traditional CRUD application into a hybrid DApp by anchoring critical records to an immutable ledger without sacrificing usability. Here are the references used in designing and evaluating the system, in Harvard format.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800" cy="68580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2540000"/>
            <a:ext cx="9525000" cy="190500"/>
          </a:xfrm>
          <a:prstGeom prst="rect">
            <a:avLst/>
          </a:prstGeom>
          <a:noFill/>
        </p:spPr>
        <p:txBody>
          <a:bodyPr wrap="square" lIns="0" rIns="0" tIns="0" bIns="0" anchor="t">
            <a:spAutoFit/>
          </a:bodyPr>
          <a:lstStyle/>
          <a:p>
            <a:pPr algn="l">
              <a:lnSpc>
                <a:spcPct val="115000"/>
              </a:lnSpc>
            </a:pPr>
            <a:r>
              <a:rPr sz="1200" b="1" i="0" spc="240">
                <a:solidFill>
                  <a:srgbClr val="6CB8DA"/>
                </a:solidFill>
                <a:latin typeface="DM Sans"/>
              </a:rPr>
              <a:t>CN6035 — MOBILE AND DISTRIBUTED SYSTEMS</a:t>
            </a:r>
          </a:p>
        </p:txBody>
      </p:sp>
      <p:sp>
        <p:nvSpPr>
          <p:cNvPr id="5" name="TextBox 4"/>
          <p:cNvSpPr txBox="1"/>
          <p:nvPr/>
        </p:nvSpPr>
        <p:spPr>
          <a:xfrm>
            <a:off x="762000" y="2921000"/>
            <a:ext cx="10160000" cy="825500"/>
          </a:xfrm>
          <a:prstGeom prst="rect">
            <a:avLst/>
          </a:prstGeom>
          <a:noFill/>
        </p:spPr>
        <p:txBody>
          <a:bodyPr wrap="square" lIns="0" rIns="0" tIns="0" bIns="0" anchor="t">
            <a:spAutoFit/>
          </a:bodyPr>
          <a:lstStyle/>
          <a:p>
            <a:pPr algn="l">
              <a:lnSpc>
                <a:spcPct val="105000"/>
              </a:lnSpc>
            </a:pPr>
            <a:r>
              <a:rPr sz="4800" b="1" i="0">
                <a:solidFill>
                  <a:srgbClr val="F9FAFB"/>
                </a:solidFill>
                <a:latin typeface="DM Sans"/>
              </a:rPr>
              <a:t>HMS </a:t>
            </a:r>
            <a:r>
              <a:rPr sz="4800" b="1" i="0">
                <a:solidFill>
                  <a:srgbClr val="6CB8DA"/>
                </a:solidFill>
                <a:latin typeface="DM Sans"/>
              </a:rPr>
              <a:t>DApp</a:t>
            </a:r>
          </a:p>
        </p:txBody>
      </p:sp>
      <p:sp>
        <p:nvSpPr>
          <p:cNvPr id="6" name="TextBox 5"/>
          <p:cNvSpPr txBox="1"/>
          <p:nvPr/>
        </p:nvSpPr>
        <p:spPr>
          <a:xfrm>
            <a:off x="762000" y="3937000"/>
            <a:ext cx="9525000" cy="508000"/>
          </a:xfrm>
          <a:prstGeom prst="rect">
            <a:avLst/>
          </a:prstGeom>
          <a:noFill/>
        </p:spPr>
        <p:txBody>
          <a:bodyPr wrap="square" lIns="0" rIns="0" tIns="0" bIns="0" anchor="t">
            <a:spAutoFit/>
          </a:bodyPr>
          <a:lstStyle/>
          <a:p>
            <a:pPr algn="l">
              <a:lnSpc>
                <a:spcPct val="140000"/>
              </a:lnSpc>
            </a:pPr>
            <a:r>
              <a:rPr sz="2200" b="0" i="0">
                <a:solidFill>
                  <a:srgbClr val="A6AFBB"/>
                </a:solidFill>
                <a:latin typeface="DM Sans"/>
              </a:rPr>
              <a:t>A Hybrid Hospital Management Decentralised Application</a:t>
            </a:r>
          </a:p>
        </p:txBody>
      </p:sp>
      <p:sp>
        <p:nvSpPr>
          <p:cNvPr id="7" name="TextBox 6"/>
          <p:cNvSpPr txBox="1"/>
          <p:nvPr/>
        </p:nvSpPr>
        <p:spPr>
          <a:xfrm>
            <a:off x="6985000" y="5715000"/>
            <a:ext cx="4572000" cy="635000"/>
          </a:xfrm>
          <a:prstGeom prst="rect">
            <a:avLst/>
          </a:prstGeom>
          <a:noFill/>
        </p:spPr>
        <p:txBody>
          <a:bodyPr wrap="square" lIns="0" rIns="0" tIns="0" bIns="0" anchor="t">
            <a:spAutoFit/>
          </a:bodyPr>
          <a:lstStyle/>
          <a:p>
            <a:pPr algn="r">
              <a:lnSpc>
                <a:spcPct val="170000"/>
              </a:lnSpc>
            </a:pPr>
            <a:r>
              <a:rPr sz="1200" b="0" i="0">
                <a:solidFill>
                  <a:srgbClr val="666D78"/>
                </a:solidFill>
                <a:latin typeface="DM Sans"/>
              </a:rPr>
              <a:t>Task 2 — Video Presentation</a:t>
            </a:r>
          </a:p>
          <a:p>
            <a:pPr algn="r">
              <a:lnSpc>
                <a:spcPct val="170000"/>
              </a:lnSpc>
            </a:pPr>
            <a:r>
              <a:rPr sz="1200" b="0" i="0">
                <a:solidFill>
                  <a:srgbClr val="666D78"/>
                </a:solidFill>
                <a:latin typeface="DM Sans"/>
              </a:rPr>
              <a:t>Solidity · Node.js · React 19 · Ganache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01 — OVERVIEW</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Project Overview</a:t>
            </a:r>
          </a:p>
        </p:txBody>
      </p:sp>
      <p:sp>
        <p:nvSpPr>
          <p:cNvPr id="5" name="Rounded Rectangle 4"/>
          <p:cNvSpPr/>
          <p:nvPr/>
        </p:nvSpPr>
        <p:spPr>
          <a:xfrm>
            <a:off x="762000" y="1968500"/>
            <a:ext cx="5207000" cy="1968500"/>
          </a:xfrm>
          <a:prstGeom prst="roundRect">
            <a:avLst>
              <a:gd name="adj" fmla="val 5000"/>
            </a:avLst>
          </a:prstGeom>
          <a:solidFill>
            <a:srgbClr val="EAF5FC"/>
          </a:solidFill>
          <a:ln w="19050">
            <a:solidFill>
              <a:srgbClr val="6CB8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184400"/>
            <a:ext cx="4597400" cy="215900"/>
          </a:xfrm>
          <a:prstGeom prst="rect">
            <a:avLst/>
          </a:prstGeom>
          <a:noFill/>
        </p:spPr>
        <p:txBody>
          <a:bodyPr wrap="square" lIns="0" rIns="0" tIns="0" bIns="0" anchor="t">
            <a:spAutoFit/>
          </a:bodyPr>
          <a:lstStyle/>
          <a:p>
            <a:pPr algn="l">
              <a:lnSpc>
                <a:spcPct val="115000"/>
              </a:lnSpc>
            </a:pPr>
            <a:r>
              <a:rPr sz="1400" b="1" i="0" spc="240">
                <a:solidFill>
                  <a:srgbClr val="1A8FC2"/>
                </a:solidFill>
                <a:latin typeface="DM Sans"/>
              </a:rPr>
              <a:t>ADMIN</a:t>
            </a:r>
          </a:p>
        </p:txBody>
      </p:sp>
      <p:sp>
        <p:nvSpPr>
          <p:cNvPr id="7" name="TextBox 6"/>
          <p:cNvSpPr txBox="1"/>
          <p:nvPr/>
        </p:nvSpPr>
        <p:spPr>
          <a:xfrm>
            <a:off x="1066800" y="2540000"/>
            <a:ext cx="4597400" cy="1270000"/>
          </a:xfrm>
          <a:prstGeom prst="rect">
            <a:avLst/>
          </a:prstGeom>
          <a:noFill/>
        </p:spPr>
        <p:txBody>
          <a:bodyPr wrap="square" lIns="0" rIns="0" tIns="0" bIns="0" anchor="t">
            <a:spAutoFit/>
          </a:bodyPr>
          <a:lstStyle/>
          <a:p>
            <a:pPr algn="l">
              <a:lnSpc>
                <a:spcPct val="135000"/>
              </a:lnSpc>
            </a:pPr>
            <a:r>
              <a:rPr sz="1500" b="1" i="0">
                <a:solidFill>
                  <a:srgbClr val="1A8FC2"/>
                </a:solidFill>
                <a:latin typeface="DM Sans"/>
              </a:rPr>
              <a:t>•  </a:t>
            </a:r>
            <a:r>
              <a:rPr sz="1500" b="0" i="0">
                <a:solidFill>
                  <a:srgbClr val="0D1B2A"/>
                </a:solidFill>
                <a:latin typeface="DM Sans"/>
              </a:rPr>
              <a:t>Analytics dashboard with recharts</a:t>
            </a:r>
          </a:p>
          <a:p>
            <a:pPr algn="l">
              <a:lnSpc>
                <a:spcPct val="135000"/>
              </a:lnSpc>
            </a:pPr>
            <a:r>
              <a:rPr sz="1500" b="1" i="0">
                <a:solidFill>
                  <a:srgbClr val="1A8FC2"/>
                </a:solidFill>
                <a:latin typeface="DM Sans"/>
              </a:rPr>
              <a:t>•  </a:t>
            </a:r>
            <a:r>
              <a:rPr sz="1500" b="0" i="0">
                <a:solidFill>
                  <a:srgbClr val="0D1B2A"/>
                </a:solidFill>
                <a:latin typeface="DM Sans"/>
              </a:rPr>
              <a:t>Manage users, departments &amp; beds</a:t>
            </a:r>
          </a:p>
          <a:p>
            <a:pPr algn="l">
              <a:lnSpc>
                <a:spcPct val="135000"/>
              </a:lnSpc>
            </a:pPr>
            <a:r>
              <a:rPr sz="1500" b="1" i="0">
                <a:solidFill>
                  <a:srgbClr val="1A8FC2"/>
                </a:solidFill>
                <a:latin typeface="DM Sans"/>
              </a:rPr>
              <a:t>•  </a:t>
            </a:r>
            <a:r>
              <a:rPr sz="1500" b="0" i="0">
                <a:solidFill>
                  <a:srgbClr val="0D1B2A"/>
                </a:solidFill>
                <a:latin typeface="DM Sans"/>
              </a:rPr>
              <a:t>Approve doctor registrations</a:t>
            </a:r>
          </a:p>
          <a:p>
            <a:pPr algn="l">
              <a:lnSpc>
                <a:spcPct val="135000"/>
              </a:lnSpc>
            </a:pPr>
            <a:r>
              <a:rPr sz="1500" b="1" i="0">
                <a:solidFill>
                  <a:srgbClr val="1A8FC2"/>
                </a:solidFill>
                <a:latin typeface="DM Sans"/>
              </a:rPr>
              <a:t>•  </a:t>
            </a:r>
            <a:r>
              <a:rPr sz="1500" b="0" i="0">
                <a:solidFill>
                  <a:srgbClr val="0D1B2A"/>
                </a:solidFill>
                <a:latin typeface="DM Sans"/>
              </a:rPr>
              <a:t>Blockchain verification page</a:t>
            </a:r>
          </a:p>
          <a:p>
            <a:pPr algn="l">
              <a:lnSpc>
                <a:spcPct val="135000"/>
              </a:lnSpc>
            </a:pPr>
            <a:r>
              <a:rPr sz="1500" b="1" i="0">
                <a:solidFill>
                  <a:srgbClr val="1A8FC2"/>
                </a:solidFill>
                <a:latin typeface="DM Sans"/>
              </a:rPr>
              <a:t>•  </a:t>
            </a:r>
            <a:r>
              <a:rPr sz="1500" b="0" i="0">
                <a:solidFill>
                  <a:srgbClr val="0D1B2A"/>
                </a:solidFill>
                <a:latin typeface="DM Sans"/>
              </a:rPr>
              <a:t>Full audit log viewer</a:t>
            </a:r>
          </a:p>
        </p:txBody>
      </p:sp>
      <p:sp>
        <p:nvSpPr>
          <p:cNvPr id="8" name="Rounded Rectangle 7"/>
          <p:cNvSpPr/>
          <p:nvPr/>
        </p:nvSpPr>
        <p:spPr>
          <a:xfrm>
            <a:off x="6172200" y="1968500"/>
            <a:ext cx="5207000" cy="1968500"/>
          </a:xfrm>
          <a:prstGeom prst="roundRect">
            <a:avLst>
              <a:gd name="adj" fmla="val 5000"/>
            </a:avLst>
          </a:prstGeom>
          <a:solidFill>
            <a:srgbClr val="E6F7F2"/>
          </a:solidFill>
          <a:ln w="19050">
            <a:solidFill>
              <a:srgbClr val="7A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0" y="2184400"/>
            <a:ext cx="4597400" cy="215900"/>
          </a:xfrm>
          <a:prstGeom prst="rect">
            <a:avLst/>
          </a:prstGeom>
          <a:noFill/>
        </p:spPr>
        <p:txBody>
          <a:bodyPr wrap="square" lIns="0" rIns="0" tIns="0" bIns="0" anchor="t">
            <a:spAutoFit/>
          </a:bodyPr>
          <a:lstStyle/>
          <a:p>
            <a:pPr algn="l">
              <a:lnSpc>
                <a:spcPct val="115000"/>
              </a:lnSpc>
            </a:pPr>
            <a:r>
              <a:rPr sz="1400" b="1" i="0" spc="240">
                <a:solidFill>
                  <a:srgbClr val="0AA693"/>
                </a:solidFill>
                <a:latin typeface="DM Sans"/>
              </a:rPr>
              <a:t>DOCTOR</a:t>
            </a:r>
          </a:p>
        </p:txBody>
      </p:sp>
      <p:sp>
        <p:nvSpPr>
          <p:cNvPr id="10" name="TextBox 9"/>
          <p:cNvSpPr txBox="1"/>
          <p:nvPr/>
        </p:nvSpPr>
        <p:spPr>
          <a:xfrm>
            <a:off x="6477000" y="2540000"/>
            <a:ext cx="4597400" cy="1270000"/>
          </a:xfrm>
          <a:prstGeom prst="rect">
            <a:avLst/>
          </a:prstGeom>
          <a:noFill/>
        </p:spPr>
        <p:txBody>
          <a:bodyPr wrap="square" lIns="0" rIns="0" tIns="0" bIns="0" anchor="t">
            <a:spAutoFit/>
          </a:bodyPr>
          <a:lstStyle/>
          <a:p>
            <a:pPr algn="l">
              <a:lnSpc>
                <a:spcPct val="135000"/>
              </a:lnSpc>
            </a:pPr>
            <a:r>
              <a:rPr sz="1500" b="1" i="0">
                <a:solidFill>
                  <a:srgbClr val="0AA693"/>
                </a:solidFill>
                <a:latin typeface="DM Sans"/>
              </a:rPr>
              <a:t>•  </a:t>
            </a:r>
            <a:r>
              <a:rPr sz="1500" b="0" i="0">
                <a:solidFill>
                  <a:srgbClr val="0D1B2A"/>
                </a:solidFill>
                <a:latin typeface="DM Sans"/>
              </a:rPr>
              <a:t>Manage appointment slots</a:t>
            </a:r>
          </a:p>
          <a:p>
            <a:pPr algn="l">
              <a:lnSpc>
                <a:spcPct val="135000"/>
              </a:lnSpc>
            </a:pPr>
            <a:r>
              <a:rPr sz="1500" b="1" i="0">
                <a:solidFill>
                  <a:srgbClr val="0AA693"/>
                </a:solidFill>
                <a:latin typeface="DM Sans"/>
              </a:rPr>
              <a:t>•  </a:t>
            </a:r>
            <a:r>
              <a:rPr sz="1500" b="0" i="0">
                <a:solidFill>
                  <a:srgbClr val="0D1B2A"/>
                </a:solidFill>
                <a:latin typeface="DM Sans"/>
              </a:rPr>
              <a:t>View booked patients</a:t>
            </a:r>
          </a:p>
          <a:p>
            <a:pPr algn="l">
              <a:lnSpc>
                <a:spcPct val="135000"/>
              </a:lnSpc>
            </a:pPr>
            <a:r>
              <a:rPr sz="1500" b="1" i="0">
                <a:solidFill>
                  <a:srgbClr val="0AA693"/>
                </a:solidFill>
                <a:latin typeface="DM Sans"/>
              </a:rPr>
              <a:t>•  </a:t>
            </a:r>
            <a:r>
              <a:rPr sz="1500" b="0" i="0">
                <a:solidFill>
                  <a:srgbClr val="0D1B2A"/>
                </a:solidFill>
                <a:latin typeface="DM Sans"/>
              </a:rPr>
              <a:t>Create prescriptions (hash on-chain)</a:t>
            </a:r>
          </a:p>
          <a:p>
            <a:pPr algn="l">
              <a:lnSpc>
                <a:spcPct val="135000"/>
              </a:lnSpc>
            </a:pPr>
            <a:r>
              <a:rPr sz="1500" b="1" i="0">
                <a:solidFill>
                  <a:srgbClr val="0AA693"/>
                </a:solidFill>
                <a:latin typeface="DM Sans"/>
              </a:rPr>
              <a:t>•  </a:t>
            </a:r>
            <a:r>
              <a:rPr sz="1500" b="0" i="0">
                <a:solidFill>
                  <a:srgbClr val="0D1B2A"/>
                </a:solidFill>
                <a:latin typeface="DM Sans"/>
              </a:rPr>
              <a:t>View billing for own patients</a:t>
            </a:r>
          </a:p>
        </p:txBody>
      </p:sp>
      <p:sp>
        <p:nvSpPr>
          <p:cNvPr id="11" name="Rounded Rectangle 10"/>
          <p:cNvSpPr/>
          <p:nvPr/>
        </p:nvSpPr>
        <p:spPr>
          <a:xfrm>
            <a:off x="762000" y="4140200"/>
            <a:ext cx="5207000" cy="1968500"/>
          </a:xfrm>
          <a:prstGeom prst="roundRect">
            <a:avLst>
              <a:gd name="adj" fmla="val 5000"/>
            </a:avLst>
          </a:prstGeom>
          <a:solidFill>
            <a:srgbClr val="FAF3E6"/>
          </a:solidFill>
          <a:ln w="19050">
            <a:solidFill>
              <a:srgbClr val="D9A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800" y="4356100"/>
            <a:ext cx="4597400" cy="215900"/>
          </a:xfrm>
          <a:prstGeom prst="rect">
            <a:avLst/>
          </a:prstGeom>
          <a:noFill/>
        </p:spPr>
        <p:txBody>
          <a:bodyPr wrap="square" lIns="0" rIns="0" tIns="0" bIns="0" anchor="t">
            <a:spAutoFit/>
          </a:bodyPr>
          <a:lstStyle/>
          <a:p>
            <a:pPr algn="l">
              <a:lnSpc>
                <a:spcPct val="115000"/>
              </a:lnSpc>
            </a:pPr>
            <a:r>
              <a:rPr sz="1400" b="1" i="0" spc="240">
                <a:solidFill>
                  <a:srgbClr val="BB8520"/>
                </a:solidFill>
                <a:latin typeface="DM Sans"/>
              </a:rPr>
              <a:t>PATIENT</a:t>
            </a:r>
          </a:p>
        </p:txBody>
      </p:sp>
      <p:sp>
        <p:nvSpPr>
          <p:cNvPr id="13" name="TextBox 12"/>
          <p:cNvSpPr txBox="1"/>
          <p:nvPr/>
        </p:nvSpPr>
        <p:spPr>
          <a:xfrm>
            <a:off x="1066800" y="4711700"/>
            <a:ext cx="4597400" cy="1270000"/>
          </a:xfrm>
          <a:prstGeom prst="rect">
            <a:avLst/>
          </a:prstGeom>
          <a:noFill/>
        </p:spPr>
        <p:txBody>
          <a:bodyPr wrap="square" lIns="0" rIns="0" tIns="0" bIns="0" anchor="t">
            <a:spAutoFit/>
          </a:bodyPr>
          <a:lstStyle/>
          <a:p>
            <a:pPr algn="l">
              <a:lnSpc>
                <a:spcPct val="135000"/>
              </a:lnSpc>
            </a:pPr>
            <a:r>
              <a:rPr sz="1500" b="1" i="0">
                <a:solidFill>
                  <a:srgbClr val="BB8520"/>
                </a:solidFill>
                <a:latin typeface="DM Sans"/>
              </a:rPr>
              <a:t>•  </a:t>
            </a:r>
            <a:r>
              <a:rPr sz="1500" b="0" i="0">
                <a:solidFill>
                  <a:srgbClr val="0D1B2A"/>
                </a:solidFill>
                <a:latin typeface="DM Sans"/>
              </a:rPr>
              <a:t>Browse doctors &amp; book appointments</a:t>
            </a:r>
          </a:p>
          <a:p>
            <a:pPr algn="l">
              <a:lnSpc>
                <a:spcPct val="135000"/>
              </a:lnSpc>
            </a:pPr>
            <a:r>
              <a:rPr sz="1500" b="1" i="0">
                <a:solidFill>
                  <a:srgbClr val="BB8520"/>
                </a:solidFill>
                <a:latin typeface="DM Sans"/>
              </a:rPr>
              <a:t>•  </a:t>
            </a:r>
            <a:r>
              <a:rPr sz="1500" b="0" i="0">
                <a:solidFill>
                  <a:srgbClr val="0D1B2A"/>
                </a:solidFill>
                <a:latin typeface="DM Sans"/>
              </a:rPr>
              <a:t>View bills — pay off-chain or via MetaMask</a:t>
            </a:r>
          </a:p>
          <a:p>
            <a:pPr algn="l">
              <a:lnSpc>
                <a:spcPct val="135000"/>
              </a:lnSpc>
            </a:pPr>
            <a:r>
              <a:rPr sz="1500" b="1" i="0">
                <a:solidFill>
                  <a:srgbClr val="BB8520"/>
                </a:solidFill>
                <a:latin typeface="DM Sans"/>
              </a:rPr>
              <a:t>•  </a:t>
            </a:r>
            <a:r>
              <a:rPr sz="1500" b="0" i="0">
                <a:solidFill>
                  <a:srgbClr val="0D1B2A"/>
                </a:solidFill>
                <a:latin typeface="DM Sans"/>
              </a:rPr>
              <a:t>View prescriptions &amp; notifications</a:t>
            </a:r>
          </a:p>
          <a:p>
            <a:pPr algn="l">
              <a:lnSpc>
                <a:spcPct val="135000"/>
              </a:lnSpc>
            </a:pPr>
            <a:r>
              <a:rPr sz="1500" b="1" i="0">
                <a:solidFill>
                  <a:srgbClr val="BB8520"/>
                </a:solidFill>
                <a:latin typeface="DM Sans"/>
              </a:rPr>
              <a:t>•  </a:t>
            </a:r>
            <a:r>
              <a:rPr sz="1500" b="0" i="0">
                <a:solidFill>
                  <a:srgbClr val="0D1B2A"/>
                </a:solidFill>
                <a:latin typeface="DM Sans"/>
              </a:rPr>
              <a:t>PDF export of bills &amp; prescriptions</a:t>
            </a:r>
          </a:p>
        </p:txBody>
      </p:sp>
      <p:sp>
        <p:nvSpPr>
          <p:cNvPr id="14" name="Rounded Rectangle 13"/>
          <p:cNvSpPr/>
          <p:nvPr/>
        </p:nvSpPr>
        <p:spPr>
          <a:xfrm>
            <a:off x="6172200" y="4140200"/>
            <a:ext cx="5207000" cy="1968500"/>
          </a:xfrm>
          <a:prstGeom prst="roundRect">
            <a:avLst>
              <a:gd name="adj" fmla="val 5000"/>
            </a:avLst>
          </a:prstGeom>
          <a:solidFill>
            <a:srgbClr val="F0F2F5"/>
          </a:solidFill>
          <a:ln w="19050">
            <a:solidFill>
              <a:srgbClr val="C8C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7000" y="4356100"/>
            <a:ext cx="4597400" cy="215900"/>
          </a:xfrm>
          <a:prstGeom prst="rect">
            <a:avLst/>
          </a:prstGeom>
          <a:noFill/>
        </p:spPr>
        <p:txBody>
          <a:bodyPr wrap="square" lIns="0" rIns="0" tIns="0" bIns="0" anchor="t">
            <a:spAutoFit/>
          </a:bodyPr>
          <a:lstStyle/>
          <a:p>
            <a:pPr algn="l">
              <a:lnSpc>
                <a:spcPct val="115000"/>
              </a:lnSpc>
            </a:pPr>
            <a:r>
              <a:rPr sz="1400" b="1" i="0" spc="240">
                <a:solidFill>
                  <a:srgbClr val="5A6A7E"/>
                </a:solidFill>
                <a:latin typeface="DM Sans"/>
              </a:rPr>
              <a:t>RECEPTIONIST</a:t>
            </a:r>
          </a:p>
        </p:txBody>
      </p:sp>
      <p:sp>
        <p:nvSpPr>
          <p:cNvPr id="16" name="TextBox 15"/>
          <p:cNvSpPr txBox="1"/>
          <p:nvPr/>
        </p:nvSpPr>
        <p:spPr>
          <a:xfrm>
            <a:off x="6477000" y="4711700"/>
            <a:ext cx="4597400" cy="1270000"/>
          </a:xfrm>
          <a:prstGeom prst="rect">
            <a:avLst/>
          </a:prstGeom>
          <a:noFill/>
        </p:spPr>
        <p:txBody>
          <a:bodyPr wrap="square" lIns="0" rIns="0" tIns="0" bIns="0" anchor="t">
            <a:spAutoFit/>
          </a:bodyPr>
          <a:lstStyle/>
          <a:p>
            <a:pPr algn="l">
              <a:lnSpc>
                <a:spcPct val="135000"/>
              </a:lnSpc>
            </a:pPr>
            <a:r>
              <a:rPr sz="1500" b="1" i="0">
                <a:solidFill>
                  <a:srgbClr val="5A6A7E"/>
                </a:solidFill>
                <a:latin typeface="DM Sans"/>
              </a:rPr>
              <a:t>•  </a:t>
            </a:r>
            <a:r>
              <a:rPr sz="1500" b="0" i="0">
                <a:solidFill>
                  <a:srgbClr val="0D1B2A"/>
                </a:solidFill>
                <a:latin typeface="DM Sans"/>
              </a:rPr>
              <a:t>Manage bed assignments</a:t>
            </a:r>
          </a:p>
          <a:p>
            <a:pPr algn="l">
              <a:lnSpc>
                <a:spcPct val="135000"/>
              </a:lnSpc>
            </a:pPr>
            <a:r>
              <a:rPr sz="1500" b="1" i="0">
                <a:solidFill>
                  <a:srgbClr val="5A6A7E"/>
                </a:solidFill>
                <a:latin typeface="DM Sans"/>
              </a:rPr>
              <a:t>•  </a:t>
            </a:r>
            <a:r>
              <a:rPr sz="1500" b="0" i="0">
                <a:solidFill>
                  <a:srgbClr val="0D1B2A"/>
                </a:solidFill>
                <a:latin typeface="DM Sans"/>
              </a:rPr>
              <a:t>Manage department allocations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6CB8DA"/>
                </a:solidFill>
                <a:latin typeface="DM Sans"/>
              </a:rPr>
              <a:t>02 — ARCHITECTURE</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F9FAFB"/>
                </a:solidFill>
                <a:latin typeface="DM Sans"/>
              </a:rPr>
              <a:t>System Architecture</a:t>
            </a:r>
          </a:p>
        </p:txBody>
      </p:sp>
      <p:sp>
        <p:nvSpPr>
          <p:cNvPr id="5" name="Rounded Rectangle 4"/>
          <p:cNvSpPr/>
          <p:nvPr/>
        </p:nvSpPr>
        <p:spPr>
          <a:xfrm>
            <a:off x="1523984" y="2286000"/>
            <a:ext cx="2794000" cy="2794000"/>
          </a:xfrm>
          <a:prstGeom prst="roundRect">
            <a:avLst>
              <a:gd name="adj" fmla="val 6000"/>
            </a:avLst>
          </a:prstGeom>
          <a:solidFill>
            <a:srgbClr val="162C44"/>
          </a:solidFill>
          <a:ln w="19050">
            <a:solidFill>
              <a:srgbClr val="244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50984" y="2565400"/>
            <a:ext cx="2540000" cy="279400"/>
          </a:xfrm>
          <a:prstGeom prst="rect">
            <a:avLst/>
          </a:prstGeom>
          <a:noFill/>
        </p:spPr>
        <p:txBody>
          <a:bodyPr wrap="square" lIns="0" rIns="0" tIns="0" bIns="0" anchor="t">
            <a:spAutoFit/>
          </a:bodyPr>
          <a:lstStyle/>
          <a:p>
            <a:pPr algn="ctr">
              <a:lnSpc>
                <a:spcPct val="115000"/>
              </a:lnSpc>
            </a:pPr>
            <a:r>
              <a:rPr sz="1600" b="1" i="0">
                <a:solidFill>
                  <a:srgbClr val="F9FAFB"/>
                </a:solidFill>
                <a:latin typeface="DM Sans"/>
              </a:rPr>
              <a:t>React SPA</a:t>
            </a:r>
          </a:p>
        </p:txBody>
      </p:sp>
      <p:sp>
        <p:nvSpPr>
          <p:cNvPr id="7" name="TextBox 6"/>
          <p:cNvSpPr txBox="1"/>
          <p:nvPr/>
        </p:nvSpPr>
        <p:spPr>
          <a:xfrm>
            <a:off x="1650984" y="2984500"/>
            <a:ext cx="2540000" cy="508000"/>
          </a:xfrm>
          <a:prstGeom prst="rect">
            <a:avLst/>
          </a:prstGeom>
          <a:noFill/>
        </p:spPr>
        <p:txBody>
          <a:bodyPr wrap="square" lIns="0" rIns="0" tIns="0" bIns="0" anchor="t">
            <a:spAutoFit/>
          </a:bodyPr>
          <a:lstStyle/>
          <a:p>
            <a:pPr algn="ctr">
              <a:lnSpc>
                <a:spcPct val="140000"/>
              </a:lnSpc>
            </a:pPr>
            <a:r>
              <a:rPr sz="1300" b="0" i="0">
                <a:solidFill>
                  <a:srgbClr val="9AA3B0"/>
                </a:solidFill>
                <a:latin typeface="DM Sans"/>
              </a:rPr>
              <a:t>User Interface</a:t>
            </a:r>
          </a:p>
          <a:p>
            <a:pPr algn="ctr">
              <a:lnSpc>
                <a:spcPct val="140000"/>
              </a:lnSpc>
            </a:pPr>
            <a:r>
              <a:rPr sz="1300" b="0" i="0">
                <a:solidFill>
                  <a:srgbClr val="9AA3B0"/>
                </a:solidFill>
                <a:latin typeface="DM Sans"/>
              </a:rPr>
              <a:t>localhost:3000</a:t>
            </a:r>
          </a:p>
        </p:txBody>
      </p:sp>
      <p:sp>
        <p:nvSpPr>
          <p:cNvPr id="8" name="Rounded Rectangle 7"/>
          <p:cNvSpPr/>
          <p:nvPr/>
        </p:nvSpPr>
        <p:spPr>
          <a:xfrm>
            <a:off x="1676384" y="3746500"/>
            <a:ext cx="812800" cy="266700"/>
          </a:xfrm>
          <a:prstGeom prst="roundRect">
            <a:avLst>
              <a:gd name="adj" fmla="val 50000"/>
            </a:avLst>
          </a:prstGeom>
          <a:solidFill>
            <a:srgbClr val="1F3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6384" y="3784600"/>
            <a:ext cx="812800" cy="203200"/>
          </a:xfrm>
          <a:prstGeom prst="rect">
            <a:avLst/>
          </a:prstGeom>
          <a:noFill/>
        </p:spPr>
        <p:txBody>
          <a:bodyPr wrap="square" lIns="0" rIns="0" tIns="0" bIns="0" anchor="t">
            <a:spAutoFit/>
          </a:bodyPr>
          <a:lstStyle/>
          <a:p>
            <a:pPr algn="ctr">
              <a:lnSpc>
                <a:spcPct val="115000"/>
              </a:lnSpc>
            </a:pPr>
            <a:r>
              <a:rPr sz="1100" b="0" i="0">
                <a:solidFill>
                  <a:srgbClr val="8EC6E0"/>
                </a:solidFill>
                <a:latin typeface="DM Sans"/>
              </a:rPr>
              <a:t>React 19</a:t>
            </a:r>
          </a:p>
        </p:txBody>
      </p:sp>
      <p:sp>
        <p:nvSpPr>
          <p:cNvPr id="10" name="Rounded Rectangle 9"/>
          <p:cNvSpPr/>
          <p:nvPr/>
        </p:nvSpPr>
        <p:spPr>
          <a:xfrm>
            <a:off x="2552684" y="3746500"/>
            <a:ext cx="673100" cy="266700"/>
          </a:xfrm>
          <a:prstGeom prst="roundRect">
            <a:avLst>
              <a:gd name="adj" fmla="val 50000"/>
            </a:avLst>
          </a:prstGeom>
          <a:solidFill>
            <a:srgbClr val="1F3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2684" y="3784600"/>
            <a:ext cx="673100" cy="203200"/>
          </a:xfrm>
          <a:prstGeom prst="rect">
            <a:avLst/>
          </a:prstGeom>
          <a:noFill/>
        </p:spPr>
        <p:txBody>
          <a:bodyPr wrap="square" lIns="0" rIns="0" tIns="0" bIns="0" anchor="t">
            <a:spAutoFit/>
          </a:bodyPr>
          <a:lstStyle/>
          <a:p>
            <a:pPr algn="ctr">
              <a:lnSpc>
                <a:spcPct val="115000"/>
              </a:lnSpc>
            </a:pPr>
            <a:r>
              <a:rPr sz="1100" b="0" i="0">
                <a:solidFill>
                  <a:srgbClr val="8EC6E0"/>
                </a:solidFill>
                <a:latin typeface="DM Sans"/>
              </a:rPr>
              <a:t>Router</a:t>
            </a:r>
          </a:p>
        </p:txBody>
      </p:sp>
      <p:sp>
        <p:nvSpPr>
          <p:cNvPr id="12" name="Rounded Rectangle 11"/>
          <p:cNvSpPr/>
          <p:nvPr/>
        </p:nvSpPr>
        <p:spPr>
          <a:xfrm>
            <a:off x="3289284" y="3746500"/>
            <a:ext cx="812800" cy="266700"/>
          </a:xfrm>
          <a:prstGeom prst="roundRect">
            <a:avLst>
              <a:gd name="adj" fmla="val 50000"/>
            </a:avLst>
          </a:prstGeom>
          <a:solidFill>
            <a:srgbClr val="1F3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9284" y="3784600"/>
            <a:ext cx="812800" cy="203200"/>
          </a:xfrm>
          <a:prstGeom prst="rect">
            <a:avLst/>
          </a:prstGeom>
          <a:noFill/>
        </p:spPr>
        <p:txBody>
          <a:bodyPr wrap="square" lIns="0" rIns="0" tIns="0" bIns="0" anchor="t">
            <a:spAutoFit/>
          </a:bodyPr>
          <a:lstStyle/>
          <a:p>
            <a:pPr algn="ctr">
              <a:lnSpc>
                <a:spcPct val="115000"/>
              </a:lnSpc>
            </a:pPr>
            <a:r>
              <a:rPr sz="1100" b="0" i="0">
                <a:solidFill>
                  <a:srgbClr val="8EC6E0"/>
                </a:solidFill>
                <a:latin typeface="DM Sans"/>
              </a:rPr>
              <a:t>recharts</a:t>
            </a:r>
          </a:p>
        </p:txBody>
      </p:sp>
      <p:sp>
        <p:nvSpPr>
          <p:cNvPr id="14" name="Rounded Rectangle 13"/>
          <p:cNvSpPr/>
          <p:nvPr/>
        </p:nvSpPr>
        <p:spPr>
          <a:xfrm>
            <a:off x="1676384" y="4064000"/>
            <a:ext cx="812800" cy="266700"/>
          </a:xfrm>
          <a:prstGeom prst="roundRect">
            <a:avLst>
              <a:gd name="adj" fmla="val 50000"/>
            </a:avLst>
          </a:prstGeom>
          <a:solidFill>
            <a:srgbClr val="1F3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76384" y="4102100"/>
            <a:ext cx="812800" cy="203200"/>
          </a:xfrm>
          <a:prstGeom prst="rect">
            <a:avLst/>
          </a:prstGeom>
          <a:noFill/>
        </p:spPr>
        <p:txBody>
          <a:bodyPr wrap="square" lIns="0" rIns="0" tIns="0" bIns="0" anchor="t">
            <a:spAutoFit/>
          </a:bodyPr>
          <a:lstStyle/>
          <a:p>
            <a:pPr algn="ctr">
              <a:lnSpc>
                <a:spcPct val="115000"/>
              </a:lnSpc>
            </a:pPr>
            <a:r>
              <a:rPr sz="1100" b="0" i="0">
                <a:solidFill>
                  <a:srgbClr val="8EC6E0"/>
                </a:solidFill>
                <a:latin typeface="DM Sans"/>
              </a:rPr>
              <a:t>MetaMask</a:t>
            </a:r>
          </a:p>
        </p:txBody>
      </p:sp>
      <p:sp>
        <p:nvSpPr>
          <p:cNvPr id="16" name="Rounded Rectangle 15"/>
          <p:cNvSpPr/>
          <p:nvPr/>
        </p:nvSpPr>
        <p:spPr>
          <a:xfrm>
            <a:off x="2552684" y="4064000"/>
            <a:ext cx="603250" cy="266700"/>
          </a:xfrm>
          <a:prstGeom prst="roundRect">
            <a:avLst>
              <a:gd name="adj" fmla="val 50000"/>
            </a:avLst>
          </a:prstGeom>
          <a:solidFill>
            <a:srgbClr val="1F3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2684" y="4102100"/>
            <a:ext cx="603250" cy="203200"/>
          </a:xfrm>
          <a:prstGeom prst="rect">
            <a:avLst/>
          </a:prstGeom>
          <a:noFill/>
        </p:spPr>
        <p:txBody>
          <a:bodyPr wrap="square" lIns="0" rIns="0" tIns="0" bIns="0" anchor="t">
            <a:spAutoFit/>
          </a:bodyPr>
          <a:lstStyle/>
          <a:p>
            <a:pPr algn="ctr">
              <a:lnSpc>
                <a:spcPct val="115000"/>
              </a:lnSpc>
            </a:pPr>
            <a:r>
              <a:rPr sz="1100" b="0" i="0">
                <a:solidFill>
                  <a:srgbClr val="8EC6E0"/>
                </a:solidFill>
                <a:latin typeface="DM Sans"/>
              </a:rPr>
              <a:t>jsPDF</a:t>
            </a:r>
          </a:p>
        </p:txBody>
      </p:sp>
      <p:sp>
        <p:nvSpPr>
          <p:cNvPr id="18" name="Rounded Rectangle 17"/>
          <p:cNvSpPr/>
          <p:nvPr/>
        </p:nvSpPr>
        <p:spPr>
          <a:xfrm>
            <a:off x="4698984" y="2286000"/>
            <a:ext cx="2794000" cy="2794000"/>
          </a:xfrm>
          <a:prstGeom prst="roundRect">
            <a:avLst>
              <a:gd name="adj" fmla="val 6000"/>
            </a:avLst>
          </a:prstGeom>
          <a:solidFill>
            <a:srgbClr val="13322A"/>
          </a:solidFill>
          <a:ln w="19050">
            <a:solidFill>
              <a:srgbClr val="21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5984" y="2565400"/>
            <a:ext cx="2540000" cy="279400"/>
          </a:xfrm>
          <a:prstGeom prst="rect">
            <a:avLst/>
          </a:prstGeom>
          <a:noFill/>
        </p:spPr>
        <p:txBody>
          <a:bodyPr wrap="square" lIns="0" rIns="0" tIns="0" bIns="0" anchor="t">
            <a:spAutoFit/>
          </a:bodyPr>
          <a:lstStyle/>
          <a:p>
            <a:pPr algn="ctr">
              <a:lnSpc>
                <a:spcPct val="115000"/>
              </a:lnSpc>
            </a:pPr>
            <a:r>
              <a:rPr sz="1600" b="1" i="0">
                <a:solidFill>
                  <a:srgbClr val="F9FAFB"/>
                </a:solidFill>
                <a:latin typeface="DM Sans"/>
              </a:rPr>
              <a:t>Node / Express API</a:t>
            </a:r>
          </a:p>
        </p:txBody>
      </p:sp>
      <p:sp>
        <p:nvSpPr>
          <p:cNvPr id="20" name="TextBox 19"/>
          <p:cNvSpPr txBox="1"/>
          <p:nvPr/>
        </p:nvSpPr>
        <p:spPr>
          <a:xfrm>
            <a:off x="4825984" y="2984500"/>
            <a:ext cx="2540000" cy="508000"/>
          </a:xfrm>
          <a:prstGeom prst="rect">
            <a:avLst/>
          </a:prstGeom>
          <a:noFill/>
        </p:spPr>
        <p:txBody>
          <a:bodyPr wrap="square" lIns="0" rIns="0" tIns="0" bIns="0" anchor="t">
            <a:spAutoFit/>
          </a:bodyPr>
          <a:lstStyle/>
          <a:p>
            <a:pPr algn="ctr">
              <a:lnSpc>
                <a:spcPct val="140000"/>
              </a:lnSpc>
            </a:pPr>
            <a:r>
              <a:rPr sz="1300" b="0" i="0">
                <a:solidFill>
                  <a:srgbClr val="9AA3B0"/>
                </a:solidFill>
                <a:latin typeface="DM Sans"/>
              </a:rPr>
              <a:t>Business Logic + MongoDB</a:t>
            </a:r>
          </a:p>
          <a:p>
            <a:pPr algn="ctr">
              <a:lnSpc>
                <a:spcPct val="140000"/>
              </a:lnSpc>
            </a:pPr>
            <a:r>
              <a:rPr sz="1300" b="0" i="0">
                <a:solidFill>
                  <a:srgbClr val="9AA3B0"/>
                </a:solidFill>
                <a:latin typeface="DM Sans"/>
              </a:rPr>
              <a:t>localhost:8000</a:t>
            </a:r>
          </a:p>
        </p:txBody>
      </p:sp>
      <p:sp>
        <p:nvSpPr>
          <p:cNvPr id="21" name="Rounded Rectangle 20"/>
          <p:cNvSpPr/>
          <p:nvPr/>
        </p:nvSpPr>
        <p:spPr>
          <a:xfrm>
            <a:off x="4851384" y="3746500"/>
            <a:ext cx="882650" cy="266700"/>
          </a:xfrm>
          <a:prstGeom prst="roundRect">
            <a:avLst>
              <a:gd name="adj" fmla="val 50000"/>
            </a:avLst>
          </a:prstGeom>
          <a:solidFill>
            <a:srgbClr val="1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51384" y="3784600"/>
            <a:ext cx="882650" cy="203200"/>
          </a:xfrm>
          <a:prstGeom prst="rect">
            <a:avLst/>
          </a:prstGeom>
          <a:noFill/>
        </p:spPr>
        <p:txBody>
          <a:bodyPr wrap="square" lIns="0" rIns="0" tIns="0" bIns="0" anchor="t">
            <a:spAutoFit/>
          </a:bodyPr>
          <a:lstStyle/>
          <a:p>
            <a:pPr algn="ctr">
              <a:lnSpc>
                <a:spcPct val="115000"/>
              </a:lnSpc>
            </a:pPr>
            <a:r>
              <a:rPr sz="1100" b="0" i="0">
                <a:solidFill>
                  <a:srgbClr val="8AD6C4"/>
                </a:solidFill>
                <a:latin typeface="DM Sans"/>
              </a:rPr>
              <a:t>Express 4</a:t>
            </a:r>
          </a:p>
        </p:txBody>
      </p:sp>
      <p:sp>
        <p:nvSpPr>
          <p:cNvPr id="23" name="Rounded Rectangle 22"/>
          <p:cNvSpPr/>
          <p:nvPr/>
        </p:nvSpPr>
        <p:spPr>
          <a:xfrm>
            <a:off x="5797534" y="3746500"/>
            <a:ext cx="812800" cy="266700"/>
          </a:xfrm>
          <a:prstGeom prst="roundRect">
            <a:avLst>
              <a:gd name="adj" fmla="val 50000"/>
            </a:avLst>
          </a:prstGeom>
          <a:solidFill>
            <a:srgbClr val="1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97534" y="3784600"/>
            <a:ext cx="812800" cy="203200"/>
          </a:xfrm>
          <a:prstGeom prst="rect">
            <a:avLst/>
          </a:prstGeom>
          <a:noFill/>
        </p:spPr>
        <p:txBody>
          <a:bodyPr wrap="square" lIns="0" rIns="0" tIns="0" bIns="0" anchor="t">
            <a:spAutoFit/>
          </a:bodyPr>
          <a:lstStyle/>
          <a:p>
            <a:pPr algn="ctr">
              <a:lnSpc>
                <a:spcPct val="115000"/>
              </a:lnSpc>
            </a:pPr>
            <a:r>
              <a:rPr sz="1100" b="0" i="0">
                <a:solidFill>
                  <a:srgbClr val="8AD6C4"/>
                </a:solidFill>
                <a:latin typeface="DM Sans"/>
              </a:rPr>
              <a:t>Mongoose</a:t>
            </a:r>
          </a:p>
        </p:txBody>
      </p:sp>
      <p:sp>
        <p:nvSpPr>
          <p:cNvPr id="25" name="Rounded Rectangle 24"/>
          <p:cNvSpPr/>
          <p:nvPr/>
        </p:nvSpPr>
        <p:spPr>
          <a:xfrm>
            <a:off x="4851384" y="4064000"/>
            <a:ext cx="952500" cy="266700"/>
          </a:xfrm>
          <a:prstGeom prst="roundRect">
            <a:avLst>
              <a:gd name="adj" fmla="val 50000"/>
            </a:avLst>
          </a:prstGeom>
          <a:solidFill>
            <a:srgbClr val="1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1384" y="4102100"/>
            <a:ext cx="952500" cy="203200"/>
          </a:xfrm>
          <a:prstGeom prst="rect">
            <a:avLst/>
          </a:prstGeom>
          <a:noFill/>
        </p:spPr>
        <p:txBody>
          <a:bodyPr wrap="square" lIns="0" rIns="0" tIns="0" bIns="0" anchor="t">
            <a:spAutoFit/>
          </a:bodyPr>
          <a:lstStyle/>
          <a:p>
            <a:pPr algn="ctr">
              <a:lnSpc>
                <a:spcPct val="115000"/>
              </a:lnSpc>
            </a:pPr>
            <a:r>
              <a:rPr sz="1100" b="0" i="0">
                <a:solidFill>
                  <a:srgbClr val="8AD6C4"/>
                </a:solidFill>
                <a:latin typeface="DM Sans"/>
              </a:rPr>
              <a:t>JWT/bcrypt</a:t>
            </a:r>
          </a:p>
        </p:txBody>
      </p:sp>
      <p:sp>
        <p:nvSpPr>
          <p:cNvPr id="27" name="Rounded Rectangle 26"/>
          <p:cNvSpPr/>
          <p:nvPr/>
        </p:nvSpPr>
        <p:spPr>
          <a:xfrm>
            <a:off x="5867384" y="4064000"/>
            <a:ext cx="742950" cy="266700"/>
          </a:xfrm>
          <a:prstGeom prst="roundRect">
            <a:avLst>
              <a:gd name="adj" fmla="val 50000"/>
            </a:avLst>
          </a:prstGeom>
          <a:solidFill>
            <a:srgbClr val="1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67384" y="4102100"/>
            <a:ext cx="742950" cy="203200"/>
          </a:xfrm>
          <a:prstGeom prst="rect">
            <a:avLst/>
          </a:prstGeom>
          <a:noFill/>
        </p:spPr>
        <p:txBody>
          <a:bodyPr wrap="square" lIns="0" rIns="0" tIns="0" bIns="0" anchor="t">
            <a:spAutoFit/>
          </a:bodyPr>
          <a:lstStyle/>
          <a:p>
            <a:pPr algn="ctr">
              <a:lnSpc>
                <a:spcPct val="115000"/>
              </a:lnSpc>
            </a:pPr>
            <a:r>
              <a:rPr sz="1100" b="0" i="0">
                <a:solidFill>
                  <a:srgbClr val="8AD6C4"/>
                </a:solidFill>
                <a:latin typeface="DM Sans"/>
              </a:rPr>
              <a:t>web3.js</a:t>
            </a:r>
          </a:p>
        </p:txBody>
      </p:sp>
      <p:sp>
        <p:nvSpPr>
          <p:cNvPr id="29" name="Rounded Rectangle 28"/>
          <p:cNvSpPr/>
          <p:nvPr/>
        </p:nvSpPr>
        <p:spPr>
          <a:xfrm>
            <a:off x="4851384" y="4381500"/>
            <a:ext cx="882650" cy="266700"/>
          </a:xfrm>
          <a:prstGeom prst="roundRect">
            <a:avLst>
              <a:gd name="adj" fmla="val 50000"/>
            </a:avLst>
          </a:prstGeom>
          <a:solidFill>
            <a:srgbClr val="1A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1384" y="4419600"/>
            <a:ext cx="882650" cy="203200"/>
          </a:xfrm>
          <a:prstGeom prst="rect">
            <a:avLst/>
          </a:prstGeom>
          <a:noFill/>
        </p:spPr>
        <p:txBody>
          <a:bodyPr wrap="square" lIns="0" rIns="0" tIns="0" bIns="0" anchor="t">
            <a:spAutoFit/>
          </a:bodyPr>
          <a:lstStyle/>
          <a:p>
            <a:pPr algn="ctr">
              <a:lnSpc>
                <a:spcPct val="115000"/>
              </a:lnSpc>
            </a:pPr>
            <a:r>
              <a:rPr sz="1100" b="0" i="0">
                <a:solidFill>
                  <a:srgbClr val="8AD6C4"/>
                </a:solidFill>
                <a:latin typeface="DM Sans"/>
              </a:rPr>
              <a:t>node-cron</a:t>
            </a:r>
          </a:p>
        </p:txBody>
      </p:sp>
      <p:sp>
        <p:nvSpPr>
          <p:cNvPr id="31" name="Rounded Rectangle 30"/>
          <p:cNvSpPr/>
          <p:nvPr/>
        </p:nvSpPr>
        <p:spPr>
          <a:xfrm>
            <a:off x="7873984" y="2286000"/>
            <a:ext cx="2794000" cy="2794000"/>
          </a:xfrm>
          <a:prstGeom prst="roundRect">
            <a:avLst>
              <a:gd name="adj" fmla="val 6000"/>
            </a:avLst>
          </a:prstGeom>
          <a:solidFill>
            <a:srgbClr val="342814"/>
          </a:solidFill>
          <a:ln w="19050">
            <a:solidFill>
              <a:srgbClr val="6B5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0984" y="2565400"/>
            <a:ext cx="2540000" cy="279400"/>
          </a:xfrm>
          <a:prstGeom prst="rect">
            <a:avLst/>
          </a:prstGeom>
          <a:noFill/>
        </p:spPr>
        <p:txBody>
          <a:bodyPr wrap="square" lIns="0" rIns="0" tIns="0" bIns="0" anchor="t">
            <a:spAutoFit/>
          </a:bodyPr>
          <a:lstStyle/>
          <a:p>
            <a:pPr algn="ctr">
              <a:lnSpc>
                <a:spcPct val="115000"/>
              </a:lnSpc>
            </a:pPr>
            <a:r>
              <a:rPr sz="1600" b="1" i="0">
                <a:solidFill>
                  <a:srgbClr val="F9FAFB"/>
                </a:solidFill>
                <a:latin typeface="DM Sans"/>
              </a:rPr>
              <a:t>Ganache Chain</a:t>
            </a:r>
          </a:p>
        </p:txBody>
      </p:sp>
      <p:sp>
        <p:nvSpPr>
          <p:cNvPr id="33" name="TextBox 32"/>
          <p:cNvSpPr txBox="1"/>
          <p:nvPr/>
        </p:nvSpPr>
        <p:spPr>
          <a:xfrm>
            <a:off x="8000984" y="2984500"/>
            <a:ext cx="2540000" cy="508000"/>
          </a:xfrm>
          <a:prstGeom prst="rect">
            <a:avLst/>
          </a:prstGeom>
          <a:noFill/>
        </p:spPr>
        <p:txBody>
          <a:bodyPr wrap="square" lIns="0" rIns="0" tIns="0" bIns="0" anchor="t">
            <a:spAutoFit/>
          </a:bodyPr>
          <a:lstStyle/>
          <a:p>
            <a:pPr algn="ctr">
              <a:lnSpc>
                <a:spcPct val="140000"/>
              </a:lnSpc>
            </a:pPr>
            <a:r>
              <a:rPr sz="1300" b="0" i="0">
                <a:solidFill>
                  <a:srgbClr val="9AA3B0"/>
                </a:solidFill>
                <a:latin typeface="DM Sans"/>
              </a:rPr>
              <a:t>Immutable Audit Layer</a:t>
            </a:r>
          </a:p>
          <a:p>
            <a:pPr algn="ctr">
              <a:lnSpc>
                <a:spcPct val="140000"/>
              </a:lnSpc>
            </a:pPr>
            <a:r>
              <a:rPr sz="1300" b="0" i="0">
                <a:solidFill>
                  <a:srgbClr val="9AA3B0"/>
                </a:solidFill>
                <a:latin typeface="DM Sans"/>
              </a:rPr>
              <a:t>localhost:7545</a:t>
            </a:r>
          </a:p>
        </p:txBody>
      </p:sp>
      <p:sp>
        <p:nvSpPr>
          <p:cNvPr id="34" name="Rounded Rectangle 33"/>
          <p:cNvSpPr/>
          <p:nvPr/>
        </p:nvSpPr>
        <p:spPr>
          <a:xfrm>
            <a:off x="8026384" y="3746500"/>
            <a:ext cx="1301750" cy="266700"/>
          </a:xfrm>
          <a:prstGeom prst="roundRect">
            <a:avLst>
              <a:gd name="adj" fmla="val 50000"/>
            </a:avLst>
          </a:prstGeom>
          <a:solidFill>
            <a:srgbClr val="4A3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26384" y="3784600"/>
            <a:ext cx="1301750" cy="203200"/>
          </a:xfrm>
          <a:prstGeom prst="rect">
            <a:avLst/>
          </a:prstGeom>
          <a:noFill/>
        </p:spPr>
        <p:txBody>
          <a:bodyPr wrap="square" lIns="0" rIns="0" tIns="0" bIns="0" anchor="t">
            <a:spAutoFit/>
          </a:bodyPr>
          <a:lstStyle/>
          <a:p>
            <a:pPr algn="ctr">
              <a:lnSpc>
                <a:spcPct val="115000"/>
              </a:lnSpc>
            </a:pPr>
            <a:r>
              <a:rPr sz="1100" b="0" i="0">
                <a:solidFill>
                  <a:srgbClr val="DEBB6E"/>
                </a:solidFill>
                <a:latin typeface="DM Sans"/>
              </a:rPr>
              <a:t>Solidity 0.8.19</a:t>
            </a:r>
          </a:p>
        </p:txBody>
      </p:sp>
      <p:sp>
        <p:nvSpPr>
          <p:cNvPr id="36" name="Rounded Rectangle 35"/>
          <p:cNvSpPr/>
          <p:nvPr/>
        </p:nvSpPr>
        <p:spPr>
          <a:xfrm>
            <a:off x="9391634" y="3746500"/>
            <a:ext cx="952500" cy="266700"/>
          </a:xfrm>
          <a:prstGeom prst="roundRect">
            <a:avLst>
              <a:gd name="adj" fmla="val 50000"/>
            </a:avLst>
          </a:prstGeom>
          <a:solidFill>
            <a:srgbClr val="4A3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1634" y="3784600"/>
            <a:ext cx="952500" cy="203200"/>
          </a:xfrm>
          <a:prstGeom prst="rect">
            <a:avLst/>
          </a:prstGeom>
          <a:noFill/>
        </p:spPr>
        <p:txBody>
          <a:bodyPr wrap="square" lIns="0" rIns="0" tIns="0" bIns="0" anchor="t">
            <a:spAutoFit/>
          </a:bodyPr>
          <a:lstStyle/>
          <a:p>
            <a:pPr algn="ctr">
              <a:lnSpc>
                <a:spcPct val="115000"/>
              </a:lnSpc>
            </a:pPr>
            <a:r>
              <a:rPr sz="1100" b="0" i="0">
                <a:solidFill>
                  <a:srgbClr val="DEBB6E"/>
                </a:solidFill>
                <a:latin typeface="DM Sans"/>
              </a:rPr>
              <a:t>Truffle v5</a:t>
            </a:r>
          </a:p>
        </p:txBody>
      </p:sp>
      <p:sp>
        <p:nvSpPr>
          <p:cNvPr id="38" name="Rounded Rectangle 37"/>
          <p:cNvSpPr/>
          <p:nvPr/>
        </p:nvSpPr>
        <p:spPr>
          <a:xfrm>
            <a:off x="8026384" y="4064000"/>
            <a:ext cx="1162050" cy="266700"/>
          </a:xfrm>
          <a:prstGeom prst="roundRect">
            <a:avLst>
              <a:gd name="adj" fmla="val 50000"/>
            </a:avLst>
          </a:prstGeom>
          <a:solidFill>
            <a:srgbClr val="4A3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6384" y="4102100"/>
            <a:ext cx="1162050" cy="203200"/>
          </a:xfrm>
          <a:prstGeom prst="rect">
            <a:avLst/>
          </a:prstGeom>
          <a:noFill/>
        </p:spPr>
        <p:txBody>
          <a:bodyPr wrap="square" lIns="0" rIns="0" tIns="0" bIns="0" anchor="t">
            <a:spAutoFit/>
          </a:bodyPr>
          <a:lstStyle/>
          <a:p>
            <a:pPr algn="ctr">
              <a:lnSpc>
                <a:spcPct val="115000"/>
              </a:lnSpc>
            </a:pPr>
            <a:r>
              <a:rPr sz="1100" b="0" i="0">
                <a:solidFill>
                  <a:srgbClr val="DEBB6E"/>
                </a:solidFill>
                <a:latin typeface="DM Sans"/>
              </a:rPr>
              <a:t>Chain ID 5777</a:t>
            </a:r>
          </a:p>
        </p:txBody>
      </p:sp>
      <p:sp>
        <p:nvSpPr>
          <p:cNvPr id="40" name="TextBox 39"/>
          <p:cNvSpPr txBox="1"/>
          <p:nvPr/>
        </p:nvSpPr>
        <p:spPr>
          <a:xfrm>
            <a:off x="3809984" y="3238500"/>
            <a:ext cx="1397000" cy="228600"/>
          </a:xfrm>
          <a:prstGeom prst="rect">
            <a:avLst/>
          </a:prstGeom>
          <a:noFill/>
        </p:spPr>
        <p:txBody>
          <a:bodyPr wrap="square" lIns="0" rIns="0" tIns="0" bIns="0" anchor="t">
            <a:spAutoFit/>
          </a:bodyPr>
          <a:lstStyle/>
          <a:p>
            <a:pPr algn="ctr">
              <a:lnSpc>
                <a:spcPct val="115000"/>
              </a:lnSpc>
            </a:pPr>
            <a:r>
              <a:rPr sz="1100" b="1" i="0">
                <a:solidFill>
                  <a:srgbClr val="6CB8DA"/>
                </a:solidFill>
                <a:latin typeface="DM Sans"/>
              </a:rPr>
              <a:t>REST / JWT</a:t>
            </a:r>
          </a:p>
        </p:txBody>
      </p:sp>
      <p:sp>
        <p:nvSpPr>
          <p:cNvPr id="41" name="TextBox 40"/>
          <p:cNvSpPr txBox="1"/>
          <p:nvPr/>
        </p:nvSpPr>
        <p:spPr>
          <a:xfrm>
            <a:off x="3809984" y="3937000"/>
            <a:ext cx="1397000" cy="228600"/>
          </a:xfrm>
          <a:prstGeom prst="rect">
            <a:avLst/>
          </a:prstGeom>
          <a:noFill/>
        </p:spPr>
        <p:txBody>
          <a:bodyPr wrap="square" lIns="0" rIns="0" tIns="0" bIns="0" anchor="t">
            <a:spAutoFit/>
          </a:bodyPr>
          <a:lstStyle/>
          <a:p>
            <a:pPr algn="ctr">
              <a:lnSpc>
                <a:spcPct val="115000"/>
              </a:lnSpc>
            </a:pPr>
            <a:r>
              <a:rPr sz="1000" b="0" i="1">
                <a:solidFill>
                  <a:srgbClr val="9AA3B0"/>
                </a:solidFill>
                <a:latin typeface="DM Sans"/>
              </a:rPr>
              <a:t>JSON + Bearer token</a:t>
            </a:r>
          </a:p>
        </p:txBody>
      </p:sp>
      <p:cxnSp>
        <p:nvCxnSpPr>
          <p:cNvPr id="42" name="Connector 41"/>
          <p:cNvCxnSpPr/>
          <p:nvPr/>
        </p:nvCxnSpPr>
        <p:spPr>
          <a:xfrm>
            <a:off x="4330684" y="3683000"/>
            <a:ext cx="355600" cy="0"/>
          </a:xfrm>
          <a:prstGeom prst="line">
            <a:avLst/>
          </a:prstGeom>
          <a:ln w="31750">
            <a:solidFill>
              <a:srgbClr val="6CB8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984984" y="3238500"/>
            <a:ext cx="1397000" cy="228600"/>
          </a:xfrm>
          <a:prstGeom prst="rect">
            <a:avLst/>
          </a:prstGeom>
          <a:noFill/>
        </p:spPr>
        <p:txBody>
          <a:bodyPr wrap="square" lIns="0" rIns="0" tIns="0" bIns="0" anchor="t">
            <a:spAutoFit/>
          </a:bodyPr>
          <a:lstStyle/>
          <a:p>
            <a:pPr algn="ctr">
              <a:lnSpc>
                <a:spcPct val="115000"/>
              </a:lnSpc>
            </a:pPr>
            <a:r>
              <a:rPr sz="1100" b="1" i="0">
                <a:solidFill>
                  <a:srgbClr val="6CB8DA"/>
                </a:solidFill>
                <a:latin typeface="DM Sans"/>
              </a:rPr>
              <a:t>web3.js / RPC</a:t>
            </a:r>
          </a:p>
        </p:txBody>
      </p:sp>
      <p:sp>
        <p:nvSpPr>
          <p:cNvPr id="44" name="TextBox 43"/>
          <p:cNvSpPr txBox="1"/>
          <p:nvPr/>
        </p:nvSpPr>
        <p:spPr>
          <a:xfrm>
            <a:off x="6984984" y="3937000"/>
            <a:ext cx="1397000" cy="228600"/>
          </a:xfrm>
          <a:prstGeom prst="rect">
            <a:avLst/>
          </a:prstGeom>
          <a:noFill/>
        </p:spPr>
        <p:txBody>
          <a:bodyPr wrap="square" lIns="0" rIns="0" tIns="0" bIns="0" anchor="t">
            <a:spAutoFit/>
          </a:bodyPr>
          <a:lstStyle/>
          <a:p>
            <a:pPr algn="ctr">
              <a:lnSpc>
                <a:spcPct val="115000"/>
              </a:lnSpc>
            </a:pPr>
            <a:r>
              <a:rPr sz="1000" b="0" i="1">
                <a:solidFill>
                  <a:srgbClr val="9AA3B0"/>
                </a:solidFill>
                <a:latin typeface="DM Sans"/>
              </a:rPr>
              <a:t>signed tx + receipt</a:t>
            </a:r>
          </a:p>
        </p:txBody>
      </p:sp>
      <p:cxnSp>
        <p:nvCxnSpPr>
          <p:cNvPr id="45" name="Connector 44"/>
          <p:cNvCxnSpPr/>
          <p:nvPr/>
        </p:nvCxnSpPr>
        <p:spPr>
          <a:xfrm>
            <a:off x="7505684" y="3683000"/>
            <a:ext cx="355600" cy="0"/>
          </a:xfrm>
          <a:prstGeom prst="line">
            <a:avLst/>
          </a:prstGeom>
          <a:ln w="31750">
            <a:solidFill>
              <a:srgbClr val="6CB8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62000" y="6032500"/>
            <a:ext cx="10668000" cy="317500"/>
          </a:xfrm>
          <a:prstGeom prst="rect">
            <a:avLst/>
          </a:prstGeom>
          <a:noFill/>
        </p:spPr>
        <p:txBody>
          <a:bodyPr wrap="square" lIns="0" rIns="0" tIns="0" bIns="0" anchor="t">
            <a:spAutoFit/>
          </a:bodyPr>
          <a:lstStyle/>
          <a:p>
            <a:pPr algn="ctr">
              <a:lnSpc>
                <a:spcPct val="115000"/>
              </a:lnSpc>
            </a:pPr>
            <a:r>
              <a:rPr sz="1200" b="0" i="1">
                <a:solidFill>
                  <a:srgbClr val="8A94A2"/>
                </a:solidFill>
                <a:latin typeface="DM Sans"/>
              </a:rPr>
              <a:t>Every booking, payment and prescription is mirrored on-chain — the tx hash is stored on the MongoDB document for independent verification.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03 — TECHNOLOGIES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Technology Stack</a:t>
            </a:r>
          </a:p>
        </p:txBody>
      </p:sp>
      <p:sp>
        <p:nvSpPr>
          <p:cNvPr id="5" name="Rectangle 4"/>
          <p:cNvSpPr/>
          <p:nvPr/>
        </p:nvSpPr>
        <p:spPr>
          <a:xfrm>
            <a:off x="762000" y="1905000"/>
            <a:ext cx="3302000" cy="508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2000" y="1955800"/>
            <a:ext cx="3302000" cy="4445000"/>
          </a:xfrm>
          <a:prstGeom prst="roundRect">
            <a:avLst>
              <a:gd name="adj" fmla="val 3000"/>
            </a:avLst>
          </a:prstGeom>
          <a:solidFill>
            <a:srgbClr val="EA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095500"/>
            <a:ext cx="2794000" cy="254000"/>
          </a:xfrm>
          <a:prstGeom prst="rect">
            <a:avLst/>
          </a:prstGeom>
          <a:noFill/>
        </p:spPr>
        <p:txBody>
          <a:bodyPr wrap="square" lIns="0" rIns="0" tIns="0" bIns="0" anchor="t">
            <a:spAutoFit/>
          </a:bodyPr>
          <a:lstStyle/>
          <a:p>
            <a:pPr algn="l">
              <a:lnSpc>
                <a:spcPct val="115000"/>
              </a:lnSpc>
            </a:pPr>
            <a:r>
              <a:rPr sz="1400" b="1" i="0" spc="200">
                <a:solidFill>
                  <a:srgbClr val="1A8FC2"/>
                </a:solidFill>
                <a:latin typeface="DM Sans"/>
              </a:rPr>
              <a:t>FRONTEND</a:t>
            </a:r>
          </a:p>
        </p:txBody>
      </p:sp>
      <p:sp>
        <p:nvSpPr>
          <p:cNvPr id="8" name="Rounded Rectangle 7"/>
          <p:cNvSpPr/>
          <p:nvPr/>
        </p:nvSpPr>
        <p:spPr>
          <a:xfrm>
            <a:off x="1016000" y="2413000"/>
            <a:ext cx="1511300" cy="228600"/>
          </a:xfrm>
          <a:prstGeom prst="roundRect">
            <a:avLst>
              <a:gd name="adj" fmla="val 50000"/>
            </a:avLst>
          </a:prstGeom>
          <a:solidFill>
            <a:srgbClr val="F9FAFB"/>
          </a:solidFill>
          <a:ln w="12700">
            <a:solidFill>
              <a:srgbClr val="1A8F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2438400"/>
            <a:ext cx="1511300" cy="190500"/>
          </a:xfrm>
          <a:prstGeom prst="rect">
            <a:avLst/>
          </a:prstGeom>
          <a:noFill/>
        </p:spPr>
        <p:txBody>
          <a:bodyPr wrap="square" lIns="0" rIns="0" tIns="0" bIns="0" anchor="t">
            <a:spAutoFit/>
          </a:bodyPr>
          <a:lstStyle/>
          <a:p>
            <a:pPr algn="ctr">
              <a:lnSpc>
                <a:spcPct val="115000"/>
              </a:lnSpc>
            </a:pPr>
            <a:r>
              <a:rPr sz="1000" b="1" i="0">
                <a:solidFill>
                  <a:srgbClr val="1A8FC2"/>
                </a:solidFill>
                <a:latin typeface="DM Sans"/>
              </a:rPr>
              <a:t>PRESENTATION LAYER</a:t>
            </a:r>
          </a:p>
        </p:txBody>
      </p:sp>
      <p:sp>
        <p:nvSpPr>
          <p:cNvPr id="10" name="TextBox 9"/>
          <p:cNvSpPr txBox="1"/>
          <p:nvPr/>
        </p:nvSpPr>
        <p:spPr>
          <a:xfrm>
            <a:off x="1016000" y="27940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React 19 + Router v6</a:t>
            </a:r>
          </a:p>
        </p:txBody>
      </p:sp>
      <p:sp>
        <p:nvSpPr>
          <p:cNvPr id="11" name="TextBox 10"/>
          <p:cNvSpPr txBox="1"/>
          <p:nvPr/>
        </p:nvSpPr>
        <p:spPr>
          <a:xfrm>
            <a:off x="1016000" y="30861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SPA with role-based route protection</a:t>
            </a:r>
          </a:p>
        </p:txBody>
      </p:sp>
      <p:sp>
        <p:nvSpPr>
          <p:cNvPr id="12" name="TextBox 11"/>
          <p:cNvSpPr txBox="1"/>
          <p:nvPr/>
        </p:nvSpPr>
        <p:spPr>
          <a:xfrm>
            <a:off x="1016000" y="35306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recharts</a:t>
            </a:r>
          </a:p>
        </p:txBody>
      </p:sp>
      <p:sp>
        <p:nvSpPr>
          <p:cNvPr id="13" name="TextBox 12"/>
          <p:cNvSpPr txBox="1"/>
          <p:nvPr/>
        </p:nvSpPr>
        <p:spPr>
          <a:xfrm>
            <a:off x="1016000" y="38227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Admin analytics: revenue, diagnoses, on-chain coverage</a:t>
            </a:r>
          </a:p>
        </p:txBody>
      </p:sp>
      <p:sp>
        <p:nvSpPr>
          <p:cNvPr id="14" name="TextBox 13"/>
          <p:cNvSpPr txBox="1"/>
          <p:nvPr/>
        </p:nvSpPr>
        <p:spPr>
          <a:xfrm>
            <a:off x="1016000" y="42672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jsPDF</a:t>
            </a:r>
          </a:p>
        </p:txBody>
      </p:sp>
      <p:sp>
        <p:nvSpPr>
          <p:cNvPr id="15" name="TextBox 14"/>
          <p:cNvSpPr txBox="1"/>
          <p:nvPr/>
        </p:nvSpPr>
        <p:spPr>
          <a:xfrm>
            <a:off x="1016000" y="45593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Exportable bill &amp; prescription PDFs</a:t>
            </a:r>
          </a:p>
        </p:txBody>
      </p:sp>
      <p:sp>
        <p:nvSpPr>
          <p:cNvPr id="16" name="TextBox 15"/>
          <p:cNvSpPr txBox="1"/>
          <p:nvPr/>
        </p:nvSpPr>
        <p:spPr>
          <a:xfrm>
            <a:off x="1016000" y="50038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web3.js + MetaMask</a:t>
            </a:r>
          </a:p>
        </p:txBody>
      </p:sp>
      <p:sp>
        <p:nvSpPr>
          <p:cNvPr id="17" name="TextBox 16"/>
          <p:cNvSpPr txBox="1"/>
          <p:nvPr/>
        </p:nvSpPr>
        <p:spPr>
          <a:xfrm>
            <a:off x="1016000" y="52959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window.ethereum — on-chain bill payment</a:t>
            </a:r>
          </a:p>
        </p:txBody>
      </p:sp>
      <p:sp>
        <p:nvSpPr>
          <p:cNvPr id="18" name="Rectangle 17"/>
          <p:cNvSpPr/>
          <p:nvPr/>
        </p:nvSpPr>
        <p:spPr>
          <a:xfrm>
            <a:off x="4318000" y="1905000"/>
            <a:ext cx="3302000" cy="50800"/>
          </a:xfrm>
          <a:prstGeom prst="rect">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18000" y="1955800"/>
            <a:ext cx="3302000" cy="4445000"/>
          </a:xfrm>
          <a:prstGeom prst="roundRect">
            <a:avLst>
              <a:gd name="adj" fmla="val 3000"/>
            </a:avLst>
          </a:prstGeom>
          <a:solidFill>
            <a:srgbClr val="E6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2095500"/>
            <a:ext cx="2794000" cy="254000"/>
          </a:xfrm>
          <a:prstGeom prst="rect">
            <a:avLst/>
          </a:prstGeom>
          <a:noFill/>
        </p:spPr>
        <p:txBody>
          <a:bodyPr wrap="square" lIns="0" rIns="0" tIns="0" bIns="0" anchor="t">
            <a:spAutoFit/>
          </a:bodyPr>
          <a:lstStyle/>
          <a:p>
            <a:pPr algn="l">
              <a:lnSpc>
                <a:spcPct val="115000"/>
              </a:lnSpc>
            </a:pPr>
            <a:r>
              <a:rPr sz="1400" b="1" i="0" spc="200">
                <a:solidFill>
                  <a:srgbClr val="0AA693"/>
                </a:solidFill>
                <a:latin typeface="DM Sans"/>
              </a:rPr>
              <a:t>BACKEND</a:t>
            </a:r>
          </a:p>
        </p:txBody>
      </p:sp>
      <p:sp>
        <p:nvSpPr>
          <p:cNvPr id="21" name="Rounded Rectangle 20"/>
          <p:cNvSpPr/>
          <p:nvPr/>
        </p:nvSpPr>
        <p:spPr>
          <a:xfrm>
            <a:off x="4572000" y="2413000"/>
            <a:ext cx="2000250" cy="228600"/>
          </a:xfrm>
          <a:prstGeom prst="roundRect">
            <a:avLst>
              <a:gd name="adj" fmla="val 50000"/>
            </a:avLst>
          </a:prstGeom>
          <a:solidFill>
            <a:srgbClr val="F9FAFB"/>
          </a:solidFill>
          <a:ln w="12700">
            <a:solidFill>
              <a:srgbClr val="0AA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2438400"/>
            <a:ext cx="2000250" cy="190500"/>
          </a:xfrm>
          <a:prstGeom prst="rect">
            <a:avLst/>
          </a:prstGeom>
          <a:noFill/>
        </p:spPr>
        <p:txBody>
          <a:bodyPr wrap="square" lIns="0" rIns="0" tIns="0" bIns="0" anchor="t">
            <a:spAutoFit/>
          </a:bodyPr>
          <a:lstStyle/>
          <a:p>
            <a:pPr algn="ctr">
              <a:lnSpc>
                <a:spcPct val="115000"/>
              </a:lnSpc>
            </a:pPr>
            <a:r>
              <a:rPr sz="1000" b="1" i="0">
                <a:solidFill>
                  <a:srgbClr val="0AA693"/>
                </a:solidFill>
                <a:latin typeface="DM Sans"/>
              </a:rPr>
              <a:t>APPLICATION · PERSISTENCE</a:t>
            </a:r>
          </a:p>
        </p:txBody>
      </p:sp>
      <p:sp>
        <p:nvSpPr>
          <p:cNvPr id="23" name="TextBox 22"/>
          <p:cNvSpPr txBox="1"/>
          <p:nvPr/>
        </p:nvSpPr>
        <p:spPr>
          <a:xfrm>
            <a:off x="4572000" y="27940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Node.js + Express 4</a:t>
            </a:r>
          </a:p>
        </p:txBody>
      </p:sp>
      <p:sp>
        <p:nvSpPr>
          <p:cNvPr id="24" name="TextBox 23"/>
          <p:cNvSpPr txBox="1"/>
          <p:nvPr/>
        </p:nvSpPr>
        <p:spPr>
          <a:xfrm>
            <a:off x="4572000" y="30861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REST API, 12 route groups, Swagger UI</a:t>
            </a:r>
          </a:p>
        </p:txBody>
      </p:sp>
      <p:sp>
        <p:nvSpPr>
          <p:cNvPr id="25" name="TextBox 24"/>
          <p:cNvSpPr txBox="1"/>
          <p:nvPr/>
        </p:nvSpPr>
        <p:spPr>
          <a:xfrm>
            <a:off x="4572000" y="35306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MongoDB + Mongoose</a:t>
            </a:r>
          </a:p>
        </p:txBody>
      </p:sp>
      <p:sp>
        <p:nvSpPr>
          <p:cNvPr id="26" name="TextBox 25"/>
          <p:cNvSpPr txBox="1"/>
          <p:nvPr/>
        </p:nvSpPr>
        <p:spPr>
          <a:xfrm>
            <a:off x="4572000" y="38227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10 schemas + blockchainStatus audit fields</a:t>
            </a:r>
          </a:p>
        </p:txBody>
      </p:sp>
      <p:sp>
        <p:nvSpPr>
          <p:cNvPr id="27" name="TextBox 26"/>
          <p:cNvSpPr txBox="1"/>
          <p:nvPr/>
        </p:nvSpPr>
        <p:spPr>
          <a:xfrm>
            <a:off x="4572000" y="42672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JWT + bcryptjs</a:t>
            </a:r>
          </a:p>
        </p:txBody>
      </p:sp>
      <p:sp>
        <p:nvSpPr>
          <p:cNvPr id="28" name="TextBox 27"/>
          <p:cNvSpPr txBox="1"/>
          <p:nvPr/>
        </p:nvSpPr>
        <p:spPr>
          <a:xfrm>
            <a:off x="4572000" y="45593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Auth + doctor approval workflow</a:t>
            </a:r>
          </a:p>
        </p:txBody>
      </p:sp>
      <p:sp>
        <p:nvSpPr>
          <p:cNvPr id="29" name="TextBox 28"/>
          <p:cNvSpPr txBox="1"/>
          <p:nvPr/>
        </p:nvSpPr>
        <p:spPr>
          <a:xfrm>
            <a:off x="4572000" y="50038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web3.js + node-cron</a:t>
            </a:r>
          </a:p>
        </p:txBody>
      </p:sp>
      <p:sp>
        <p:nvSpPr>
          <p:cNvPr id="30" name="TextBox 29"/>
          <p:cNvSpPr txBox="1"/>
          <p:nvPr/>
        </p:nvSpPr>
        <p:spPr>
          <a:xfrm>
            <a:off x="4572000" y="52959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Contract calls &amp; scheduled slot cleanup</a:t>
            </a:r>
          </a:p>
        </p:txBody>
      </p:sp>
      <p:sp>
        <p:nvSpPr>
          <p:cNvPr id="31" name="Rectangle 30"/>
          <p:cNvSpPr/>
          <p:nvPr/>
        </p:nvSpPr>
        <p:spPr>
          <a:xfrm>
            <a:off x="7874000" y="1905000"/>
            <a:ext cx="3302000" cy="50800"/>
          </a:xfrm>
          <a:prstGeom prst="rect">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874000" y="1955800"/>
            <a:ext cx="3302000" cy="4445000"/>
          </a:xfrm>
          <a:prstGeom prst="roundRect">
            <a:avLst>
              <a:gd name="adj" fmla="val 3000"/>
            </a:avLst>
          </a:prstGeom>
          <a:solidFill>
            <a:srgbClr val="F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28000" y="2095500"/>
            <a:ext cx="2794000" cy="254000"/>
          </a:xfrm>
          <a:prstGeom prst="rect">
            <a:avLst/>
          </a:prstGeom>
          <a:noFill/>
        </p:spPr>
        <p:txBody>
          <a:bodyPr wrap="square" lIns="0" rIns="0" tIns="0" bIns="0" anchor="t">
            <a:spAutoFit/>
          </a:bodyPr>
          <a:lstStyle/>
          <a:p>
            <a:pPr algn="l">
              <a:lnSpc>
                <a:spcPct val="115000"/>
              </a:lnSpc>
            </a:pPr>
            <a:r>
              <a:rPr sz="1400" b="1" i="0" spc="200">
                <a:solidFill>
                  <a:srgbClr val="BB8520"/>
                </a:solidFill>
                <a:latin typeface="DM Sans"/>
              </a:rPr>
              <a:t>BLOCKCHAIN</a:t>
            </a:r>
          </a:p>
        </p:txBody>
      </p:sp>
      <p:sp>
        <p:nvSpPr>
          <p:cNvPr id="34" name="Rounded Rectangle 33"/>
          <p:cNvSpPr/>
          <p:nvPr/>
        </p:nvSpPr>
        <p:spPr>
          <a:xfrm>
            <a:off x="8128000" y="2413000"/>
            <a:ext cx="1301750" cy="228600"/>
          </a:xfrm>
          <a:prstGeom prst="roundRect">
            <a:avLst>
              <a:gd name="adj" fmla="val 50000"/>
            </a:avLst>
          </a:prstGeom>
          <a:solidFill>
            <a:srgbClr val="F9FAFB"/>
          </a:solidFill>
          <a:ln w="12700">
            <a:solidFill>
              <a:srgbClr val="BB8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28000" y="2438400"/>
            <a:ext cx="1301750" cy="190500"/>
          </a:xfrm>
          <a:prstGeom prst="rect">
            <a:avLst/>
          </a:prstGeom>
          <a:noFill/>
        </p:spPr>
        <p:txBody>
          <a:bodyPr wrap="square" lIns="0" rIns="0" tIns="0" bIns="0" anchor="t">
            <a:spAutoFit/>
          </a:bodyPr>
          <a:lstStyle/>
          <a:p>
            <a:pPr algn="ctr">
              <a:lnSpc>
                <a:spcPct val="115000"/>
              </a:lnSpc>
            </a:pPr>
            <a:r>
              <a:rPr sz="1000" b="1" i="0">
                <a:solidFill>
                  <a:srgbClr val="BB8520"/>
                </a:solidFill>
                <a:latin typeface="DM Sans"/>
              </a:rPr>
              <a:t>CONSENSUS LAYER</a:t>
            </a:r>
          </a:p>
        </p:txBody>
      </p:sp>
      <p:sp>
        <p:nvSpPr>
          <p:cNvPr id="36" name="TextBox 35"/>
          <p:cNvSpPr txBox="1"/>
          <p:nvPr/>
        </p:nvSpPr>
        <p:spPr>
          <a:xfrm>
            <a:off x="8128000" y="27940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Solidity 0.8.19</a:t>
            </a:r>
          </a:p>
        </p:txBody>
      </p:sp>
      <p:sp>
        <p:nvSpPr>
          <p:cNvPr id="37" name="TextBox 36"/>
          <p:cNvSpPr txBox="1"/>
          <p:nvPr/>
        </p:nvSpPr>
        <p:spPr>
          <a:xfrm>
            <a:off x="8128000" y="30861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HospitalRecords smart contract</a:t>
            </a:r>
          </a:p>
        </p:txBody>
      </p:sp>
      <p:sp>
        <p:nvSpPr>
          <p:cNvPr id="38" name="TextBox 37"/>
          <p:cNvSpPr txBox="1"/>
          <p:nvPr/>
        </p:nvSpPr>
        <p:spPr>
          <a:xfrm>
            <a:off x="8128000" y="35306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Truffle v5</a:t>
            </a:r>
          </a:p>
        </p:txBody>
      </p:sp>
      <p:sp>
        <p:nvSpPr>
          <p:cNvPr id="39" name="TextBox 38"/>
          <p:cNvSpPr txBox="1"/>
          <p:nvPr/>
        </p:nvSpPr>
        <p:spPr>
          <a:xfrm>
            <a:off x="8128000" y="38227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Compilation, migration, testing framework</a:t>
            </a:r>
          </a:p>
        </p:txBody>
      </p:sp>
      <p:sp>
        <p:nvSpPr>
          <p:cNvPr id="40" name="TextBox 39"/>
          <p:cNvSpPr txBox="1"/>
          <p:nvPr/>
        </p:nvSpPr>
        <p:spPr>
          <a:xfrm>
            <a:off x="8128000" y="42672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Ganache</a:t>
            </a:r>
          </a:p>
        </p:txBody>
      </p:sp>
      <p:sp>
        <p:nvSpPr>
          <p:cNvPr id="41" name="TextBox 40"/>
          <p:cNvSpPr txBox="1"/>
          <p:nvPr/>
        </p:nvSpPr>
        <p:spPr>
          <a:xfrm>
            <a:off x="8128000" y="45593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Local Ethereum chain — Chain ID 5777, :7545</a:t>
            </a:r>
          </a:p>
        </p:txBody>
      </p:sp>
      <p:sp>
        <p:nvSpPr>
          <p:cNvPr id="42" name="TextBox 41"/>
          <p:cNvSpPr txBox="1"/>
          <p:nvPr/>
        </p:nvSpPr>
        <p:spPr>
          <a:xfrm>
            <a:off x="8128000" y="5003800"/>
            <a:ext cx="2794000" cy="266700"/>
          </a:xfrm>
          <a:prstGeom prst="rect">
            <a:avLst/>
          </a:prstGeom>
          <a:noFill/>
        </p:spPr>
        <p:txBody>
          <a:bodyPr wrap="square" lIns="0" rIns="0" tIns="0" bIns="0" anchor="t">
            <a:spAutoFit/>
          </a:bodyPr>
          <a:lstStyle/>
          <a:p>
            <a:pPr algn="l">
              <a:lnSpc>
                <a:spcPct val="115000"/>
              </a:lnSpc>
            </a:pPr>
            <a:r>
              <a:rPr sz="1500" b="1" i="0">
                <a:solidFill>
                  <a:srgbClr val="0D1B2A"/>
                </a:solidFill>
                <a:latin typeface="DM Sans"/>
              </a:rPr>
              <a:t>MetaMask</a:t>
            </a:r>
          </a:p>
        </p:txBody>
      </p:sp>
      <p:sp>
        <p:nvSpPr>
          <p:cNvPr id="43" name="TextBox 42"/>
          <p:cNvSpPr txBox="1"/>
          <p:nvPr/>
        </p:nvSpPr>
        <p:spPr>
          <a:xfrm>
            <a:off x="8128000" y="5295900"/>
            <a:ext cx="2794000" cy="228600"/>
          </a:xfrm>
          <a:prstGeom prst="rect">
            <a:avLst/>
          </a:prstGeom>
          <a:noFill/>
        </p:spPr>
        <p:txBody>
          <a:bodyPr wrap="square" lIns="0" rIns="0" tIns="0" bIns="0" anchor="t">
            <a:spAutoFit/>
          </a:bodyPr>
          <a:lstStyle/>
          <a:p>
            <a:pPr algn="l">
              <a:lnSpc>
                <a:spcPct val="115000"/>
              </a:lnSpc>
            </a:pPr>
            <a:r>
              <a:rPr sz="1200" b="0" i="0">
                <a:solidFill>
                  <a:srgbClr val="5A6A7E"/>
                </a:solidFill>
                <a:latin typeface="DM Sans"/>
              </a:rPr>
              <a:t>Injected wallet for patient on-chain payments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6CB8DA"/>
                </a:solidFill>
                <a:latin typeface="DM Sans"/>
              </a:rPr>
              <a:t>04 — BLOCKCHAIN</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F9FAFB"/>
                </a:solidFill>
                <a:latin typeface="DM Sans"/>
              </a:rPr>
              <a:t>Smart Contract Design</a:t>
            </a:r>
          </a:p>
        </p:txBody>
      </p:sp>
      <p:sp>
        <p:nvSpPr>
          <p:cNvPr id="5" name="Rounded Rectangle 4"/>
          <p:cNvSpPr/>
          <p:nvPr/>
        </p:nvSpPr>
        <p:spPr>
          <a:xfrm>
            <a:off x="762000" y="1905000"/>
            <a:ext cx="5080000" cy="4254500"/>
          </a:xfrm>
          <a:prstGeom prst="roundRect">
            <a:avLst>
              <a:gd name="adj" fmla="val 4000"/>
            </a:avLst>
          </a:prstGeom>
          <a:solidFill>
            <a:srgbClr val="172438"/>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6000" y="2095500"/>
            <a:ext cx="4572000" cy="241300"/>
          </a:xfrm>
          <a:prstGeom prst="rect">
            <a:avLst/>
          </a:prstGeom>
          <a:noFill/>
        </p:spPr>
        <p:txBody>
          <a:bodyPr wrap="square" lIns="0" rIns="0" tIns="0" bIns="0" anchor="t">
            <a:spAutoFit/>
          </a:bodyPr>
          <a:lstStyle/>
          <a:p>
            <a:pPr algn="l">
              <a:lnSpc>
                <a:spcPct val="115000"/>
              </a:lnSpc>
            </a:pPr>
            <a:r>
              <a:rPr sz="1200" b="1" i="0" spc="180">
                <a:solidFill>
                  <a:srgbClr val="6CB8DA"/>
                </a:solidFill>
                <a:latin typeface="DM Sans"/>
              </a:rPr>
              <a:t>DATA STRUCTURES &amp; CORE FUNCTIONS</a:t>
            </a:r>
          </a:p>
        </p:txBody>
      </p:sp>
      <p:sp>
        <p:nvSpPr>
          <p:cNvPr id="7" name="TextBox 6"/>
          <p:cNvSpPr txBox="1"/>
          <p:nvPr/>
        </p:nvSpPr>
        <p:spPr>
          <a:xfrm>
            <a:off x="1016000" y="2476500"/>
            <a:ext cx="2286000" cy="215900"/>
          </a:xfrm>
          <a:prstGeom prst="rect">
            <a:avLst/>
          </a:prstGeom>
          <a:noFill/>
        </p:spPr>
        <p:txBody>
          <a:bodyPr wrap="square" lIns="0" rIns="0" tIns="0" bIns="0" anchor="t">
            <a:spAutoFit/>
          </a:bodyPr>
          <a:lstStyle/>
          <a:p>
            <a:pPr algn="l">
              <a:lnSpc>
                <a:spcPct val="115000"/>
              </a:lnSpc>
            </a:pPr>
            <a:r>
              <a:rPr sz="1200" b="1" i="0">
                <a:solidFill>
                  <a:srgbClr val="7AD2C0"/>
                </a:solidFill>
                <a:latin typeface="DM Mono"/>
              </a:rPr>
              <a:t>PatientRecord</a:t>
            </a:r>
          </a:p>
        </p:txBody>
      </p:sp>
      <p:sp>
        <p:nvSpPr>
          <p:cNvPr id="8" name="TextBox 7"/>
          <p:cNvSpPr txBox="1"/>
          <p:nvPr/>
        </p:nvSpPr>
        <p:spPr>
          <a:xfrm>
            <a:off x="3429000" y="2501900"/>
            <a:ext cx="2286000" cy="215900"/>
          </a:xfrm>
          <a:prstGeom prst="rect">
            <a:avLst/>
          </a:prstGeom>
          <a:noFill/>
        </p:spPr>
        <p:txBody>
          <a:bodyPr wrap="square" lIns="0" rIns="0" tIns="0" bIns="0" anchor="t">
            <a:spAutoFit/>
          </a:bodyPr>
          <a:lstStyle/>
          <a:p>
            <a:pPr algn="l">
              <a:lnSpc>
                <a:spcPct val="115000"/>
              </a:lnSpc>
            </a:pPr>
            <a:r>
              <a:rPr sz="1100" b="0" i="0">
                <a:solidFill>
                  <a:srgbClr val="9AA3B0"/>
                </a:solidFill>
                <a:latin typeface="DM Sans"/>
              </a:rPr>
              <a:t>dataHash + timestamp + exists</a:t>
            </a:r>
          </a:p>
        </p:txBody>
      </p:sp>
      <p:sp>
        <p:nvSpPr>
          <p:cNvPr id="9" name="TextBox 8"/>
          <p:cNvSpPr txBox="1"/>
          <p:nvPr/>
        </p:nvSpPr>
        <p:spPr>
          <a:xfrm>
            <a:off x="1016000" y="2806700"/>
            <a:ext cx="2286000" cy="215900"/>
          </a:xfrm>
          <a:prstGeom prst="rect">
            <a:avLst/>
          </a:prstGeom>
          <a:noFill/>
        </p:spPr>
        <p:txBody>
          <a:bodyPr wrap="square" lIns="0" rIns="0" tIns="0" bIns="0" anchor="t">
            <a:spAutoFit/>
          </a:bodyPr>
          <a:lstStyle/>
          <a:p>
            <a:pPr algn="l">
              <a:lnSpc>
                <a:spcPct val="115000"/>
              </a:lnSpc>
            </a:pPr>
            <a:r>
              <a:rPr sz="1200" b="1" i="0">
                <a:solidFill>
                  <a:srgbClr val="7AD2C0"/>
                </a:solidFill>
                <a:latin typeface="DM Mono"/>
              </a:rPr>
              <a:t>AppointmentRecord</a:t>
            </a:r>
          </a:p>
        </p:txBody>
      </p:sp>
      <p:sp>
        <p:nvSpPr>
          <p:cNvPr id="10" name="TextBox 9"/>
          <p:cNvSpPr txBox="1"/>
          <p:nvPr/>
        </p:nvSpPr>
        <p:spPr>
          <a:xfrm>
            <a:off x="3429000" y="2832100"/>
            <a:ext cx="2286000" cy="215900"/>
          </a:xfrm>
          <a:prstGeom prst="rect">
            <a:avLst/>
          </a:prstGeom>
          <a:noFill/>
        </p:spPr>
        <p:txBody>
          <a:bodyPr wrap="square" lIns="0" rIns="0" tIns="0" bIns="0" anchor="t">
            <a:spAutoFit/>
          </a:bodyPr>
          <a:lstStyle/>
          <a:p>
            <a:pPr algn="l">
              <a:lnSpc>
                <a:spcPct val="115000"/>
              </a:lnSpc>
            </a:pPr>
            <a:r>
              <a:rPr sz="1100" b="0" i="0">
                <a:solidFill>
                  <a:srgbClr val="9AA3B0"/>
                </a:solidFill>
                <a:latin typeface="DM Sans"/>
              </a:rPr>
              <a:t>patientId · doctorId · status</a:t>
            </a:r>
          </a:p>
        </p:txBody>
      </p:sp>
      <p:sp>
        <p:nvSpPr>
          <p:cNvPr id="11" name="TextBox 10"/>
          <p:cNvSpPr txBox="1"/>
          <p:nvPr/>
        </p:nvSpPr>
        <p:spPr>
          <a:xfrm>
            <a:off x="1016000" y="3136900"/>
            <a:ext cx="2286000" cy="215900"/>
          </a:xfrm>
          <a:prstGeom prst="rect">
            <a:avLst/>
          </a:prstGeom>
          <a:noFill/>
        </p:spPr>
        <p:txBody>
          <a:bodyPr wrap="square" lIns="0" rIns="0" tIns="0" bIns="0" anchor="t">
            <a:spAutoFit/>
          </a:bodyPr>
          <a:lstStyle/>
          <a:p>
            <a:pPr algn="l">
              <a:lnSpc>
                <a:spcPct val="115000"/>
              </a:lnSpc>
            </a:pPr>
            <a:r>
              <a:rPr sz="1200" b="1" i="0">
                <a:solidFill>
                  <a:srgbClr val="7AD2C0"/>
                </a:solidFill>
                <a:latin typeface="DM Mono"/>
              </a:rPr>
              <a:t>BillingRecord</a:t>
            </a:r>
          </a:p>
        </p:txBody>
      </p:sp>
      <p:sp>
        <p:nvSpPr>
          <p:cNvPr id="12" name="TextBox 11"/>
          <p:cNvSpPr txBox="1"/>
          <p:nvPr/>
        </p:nvSpPr>
        <p:spPr>
          <a:xfrm>
            <a:off x="3429000" y="3162300"/>
            <a:ext cx="2286000" cy="215900"/>
          </a:xfrm>
          <a:prstGeom prst="rect">
            <a:avLst/>
          </a:prstGeom>
          <a:noFill/>
        </p:spPr>
        <p:txBody>
          <a:bodyPr wrap="square" lIns="0" rIns="0" tIns="0" bIns="0" anchor="t">
            <a:spAutoFit/>
          </a:bodyPr>
          <a:lstStyle/>
          <a:p>
            <a:pPr algn="l">
              <a:lnSpc>
                <a:spcPct val="115000"/>
              </a:lnSpc>
            </a:pPr>
            <a:r>
              <a:rPr sz="1100" b="0" i="0">
                <a:solidFill>
                  <a:srgbClr val="9AA3B0"/>
                </a:solidFill>
                <a:latin typeface="DM Sans"/>
              </a:rPr>
              <a:t>amount (wei) · status · paidBy</a:t>
            </a:r>
          </a:p>
        </p:txBody>
      </p:sp>
      <p:sp>
        <p:nvSpPr>
          <p:cNvPr id="13" name="TextBox 12"/>
          <p:cNvSpPr txBox="1"/>
          <p:nvPr/>
        </p:nvSpPr>
        <p:spPr>
          <a:xfrm>
            <a:off x="1016000" y="3467100"/>
            <a:ext cx="2286000" cy="215900"/>
          </a:xfrm>
          <a:prstGeom prst="rect">
            <a:avLst/>
          </a:prstGeom>
          <a:noFill/>
        </p:spPr>
        <p:txBody>
          <a:bodyPr wrap="square" lIns="0" rIns="0" tIns="0" bIns="0" anchor="t">
            <a:spAutoFit/>
          </a:bodyPr>
          <a:lstStyle/>
          <a:p>
            <a:pPr algn="l">
              <a:lnSpc>
                <a:spcPct val="115000"/>
              </a:lnSpc>
            </a:pPr>
            <a:r>
              <a:rPr sz="1200" b="1" i="0">
                <a:solidFill>
                  <a:srgbClr val="7AD2C0"/>
                </a:solidFill>
                <a:latin typeface="DM Mono"/>
              </a:rPr>
              <a:t>PrescriptionRecord</a:t>
            </a:r>
          </a:p>
        </p:txBody>
      </p:sp>
      <p:sp>
        <p:nvSpPr>
          <p:cNvPr id="14" name="TextBox 13"/>
          <p:cNvSpPr txBox="1"/>
          <p:nvPr/>
        </p:nvSpPr>
        <p:spPr>
          <a:xfrm>
            <a:off x="3429000" y="3492500"/>
            <a:ext cx="2286000" cy="215900"/>
          </a:xfrm>
          <a:prstGeom prst="rect">
            <a:avLst/>
          </a:prstGeom>
          <a:noFill/>
        </p:spPr>
        <p:txBody>
          <a:bodyPr wrap="square" lIns="0" rIns="0" tIns="0" bIns="0" anchor="t">
            <a:spAutoFit/>
          </a:bodyPr>
          <a:lstStyle/>
          <a:p>
            <a:pPr algn="l">
              <a:lnSpc>
                <a:spcPct val="115000"/>
              </a:lnSpc>
            </a:pPr>
            <a:r>
              <a:rPr sz="1100" b="0" i="0">
                <a:solidFill>
                  <a:srgbClr val="9AA3B0"/>
                </a:solidFill>
                <a:latin typeface="DM Sans"/>
              </a:rPr>
              <a:t>medicineHash (SHA-256)</a:t>
            </a:r>
          </a:p>
        </p:txBody>
      </p:sp>
      <p:sp>
        <p:nvSpPr>
          <p:cNvPr id="15" name="Rectangle 14"/>
          <p:cNvSpPr/>
          <p:nvPr/>
        </p:nvSpPr>
        <p:spPr>
          <a:xfrm>
            <a:off x="1016000" y="3860800"/>
            <a:ext cx="4572000" cy="6350"/>
          </a:xfrm>
          <a:prstGeom prst="rect">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000" y="3987800"/>
            <a:ext cx="4572000" cy="215900"/>
          </a:xfrm>
          <a:prstGeom prst="rect">
            <a:avLst/>
          </a:prstGeom>
          <a:noFill/>
        </p:spPr>
        <p:txBody>
          <a:bodyPr wrap="square" lIns="0" rIns="0" tIns="0" bIns="0" anchor="t">
            <a:spAutoFit/>
          </a:bodyPr>
          <a:lstStyle/>
          <a:p>
            <a:pPr algn="l">
              <a:lnSpc>
                <a:spcPct val="115000"/>
              </a:lnSpc>
            </a:pPr>
            <a:r>
              <a:rPr sz="1100" b="1" i="0" spc="180">
                <a:solidFill>
                  <a:srgbClr val="6CB8DA"/>
                </a:solidFill>
                <a:latin typeface="DM Sans"/>
              </a:rPr>
              <a:t>KEY FUNCTIONS</a:t>
            </a:r>
          </a:p>
        </p:txBody>
      </p:sp>
      <p:sp>
        <p:nvSpPr>
          <p:cNvPr id="17" name="TextBox 16"/>
          <p:cNvSpPr txBox="1"/>
          <p:nvPr/>
        </p:nvSpPr>
        <p:spPr>
          <a:xfrm>
            <a:off x="1016000" y="4305300"/>
            <a:ext cx="3556000" cy="203200"/>
          </a:xfrm>
          <a:prstGeom prst="rect">
            <a:avLst/>
          </a:prstGeom>
          <a:noFill/>
        </p:spPr>
        <p:txBody>
          <a:bodyPr wrap="square" lIns="0" rIns="0" tIns="0" bIns="0" anchor="t">
            <a:spAutoFit/>
          </a:bodyPr>
          <a:lstStyle/>
          <a:p>
            <a:pPr algn="l">
              <a:lnSpc>
                <a:spcPct val="115000"/>
              </a:lnSpc>
            </a:pPr>
            <a:r>
              <a:rPr sz="1050" b="0" i="0">
                <a:solidFill>
                  <a:srgbClr val="D9A04A"/>
                </a:solidFill>
                <a:latin typeface="DM Mono"/>
              </a:rPr>
              <a:t>logAppointment(id, pat, dr, status)</a:t>
            </a:r>
          </a:p>
        </p:txBody>
      </p:sp>
      <p:sp>
        <p:nvSpPr>
          <p:cNvPr id="18" name="Rounded Rectangle 17"/>
          <p:cNvSpPr/>
          <p:nvPr/>
        </p:nvSpPr>
        <p:spPr>
          <a:xfrm>
            <a:off x="4699000" y="4330700"/>
            <a:ext cx="889000" cy="177800"/>
          </a:xfrm>
          <a:prstGeom prst="roundRect">
            <a:avLst>
              <a:gd name="adj" fmla="val 40000"/>
            </a:avLst>
          </a:prstGeom>
          <a:solidFill>
            <a:srgbClr val="1A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99000" y="4343400"/>
            <a:ext cx="889000" cy="165100"/>
          </a:xfrm>
          <a:prstGeom prst="rect">
            <a:avLst/>
          </a:prstGeom>
          <a:noFill/>
        </p:spPr>
        <p:txBody>
          <a:bodyPr wrap="square" lIns="0" rIns="0" tIns="0" bIns="0" anchor="t">
            <a:spAutoFit/>
          </a:bodyPr>
          <a:lstStyle/>
          <a:p>
            <a:pPr algn="ctr">
              <a:lnSpc>
                <a:spcPct val="115000"/>
              </a:lnSpc>
            </a:pPr>
            <a:r>
              <a:rPr sz="900" b="1" i="0">
                <a:solidFill>
                  <a:srgbClr val="6CB8DA"/>
                </a:solidFill>
                <a:latin typeface="DM Mono"/>
              </a:rPr>
              <a:t>onlyOwner</a:t>
            </a:r>
          </a:p>
        </p:txBody>
      </p:sp>
      <p:sp>
        <p:nvSpPr>
          <p:cNvPr id="20" name="TextBox 19"/>
          <p:cNvSpPr txBox="1"/>
          <p:nvPr/>
        </p:nvSpPr>
        <p:spPr>
          <a:xfrm>
            <a:off x="1016000" y="4610100"/>
            <a:ext cx="3556000" cy="203200"/>
          </a:xfrm>
          <a:prstGeom prst="rect">
            <a:avLst/>
          </a:prstGeom>
          <a:noFill/>
        </p:spPr>
        <p:txBody>
          <a:bodyPr wrap="square" lIns="0" rIns="0" tIns="0" bIns="0" anchor="t">
            <a:spAutoFit/>
          </a:bodyPr>
          <a:lstStyle/>
          <a:p>
            <a:pPr algn="l">
              <a:lnSpc>
                <a:spcPct val="115000"/>
              </a:lnSpc>
            </a:pPr>
            <a:r>
              <a:rPr sz="1050" b="0" i="0">
                <a:solidFill>
                  <a:srgbClr val="D9A04A"/>
                </a:solidFill>
                <a:latin typeface="DM Mono"/>
              </a:rPr>
              <a:t>logBilling(id, pat, amount, status)</a:t>
            </a:r>
          </a:p>
        </p:txBody>
      </p:sp>
      <p:sp>
        <p:nvSpPr>
          <p:cNvPr id="21" name="Rounded Rectangle 20"/>
          <p:cNvSpPr/>
          <p:nvPr/>
        </p:nvSpPr>
        <p:spPr>
          <a:xfrm>
            <a:off x="4699000" y="4635500"/>
            <a:ext cx="889000" cy="177800"/>
          </a:xfrm>
          <a:prstGeom prst="roundRect">
            <a:avLst>
              <a:gd name="adj" fmla="val 40000"/>
            </a:avLst>
          </a:prstGeom>
          <a:solidFill>
            <a:srgbClr val="1A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99000" y="4648200"/>
            <a:ext cx="889000" cy="165100"/>
          </a:xfrm>
          <a:prstGeom prst="rect">
            <a:avLst/>
          </a:prstGeom>
          <a:noFill/>
        </p:spPr>
        <p:txBody>
          <a:bodyPr wrap="square" lIns="0" rIns="0" tIns="0" bIns="0" anchor="t">
            <a:spAutoFit/>
          </a:bodyPr>
          <a:lstStyle/>
          <a:p>
            <a:pPr algn="ctr">
              <a:lnSpc>
                <a:spcPct val="115000"/>
              </a:lnSpc>
            </a:pPr>
            <a:r>
              <a:rPr sz="900" b="1" i="0">
                <a:solidFill>
                  <a:srgbClr val="6CB8DA"/>
                </a:solidFill>
                <a:latin typeface="DM Mono"/>
              </a:rPr>
              <a:t>onlyOwner</a:t>
            </a:r>
          </a:p>
        </p:txBody>
      </p:sp>
      <p:sp>
        <p:nvSpPr>
          <p:cNvPr id="23" name="TextBox 22"/>
          <p:cNvSpPr txBox="1"/>
          <p:nvPr/>
        </p:nvSpPr>
        <p:spPr>
          <a:xfrm>
            <a:off x="1016000" y="4914900"/>
            <a:ext cx="3556000" cy="203200"/>
          </a:xfrm>
          <a:prstGeom prst="rect">
            <a:avLst/>
          </a:prstGeom>
          <a:noFill/>
        </p:spPr>
        <p:txBody>
          <a:bodyPr wrap="square" lIns="0" rIns="0" tIns="0" bIns="0" anchor="t">
            <a:spAutoFit/>
          </a:bodyPr>
          <a:lstStyle/>
          <a:p>
            <a:pPr algn="l">
              <a:lnSpc>
                <a:spcPct val="115000"/>
              </a:lnSpc>
            </a:pPr>
            <a:r>
              <a:rPr sz="1050" b="0" i="0">
                <a:solidFill>
                  <a:srgbClr val="D9A04A"/>
                </a:solidFill>
                <a:latin typeface="DM Mono"/>
              </a:rPr>
              <a:t>logPrescription(id, pat, dr, hash)</a:t>
            </a:r>
          </a:p>
        </p:txBody>
      </p:sp>
      <p:sp>
        <p:nvSpPr>
          <p:cNvPr id="24" name="Rounded Rectangle 23"/>
          <p:cNvSpPr/>
          <p:nvPr/>
        </p:nvSpPr>
        <p:spPr>
          <a:xfrm>
            <a:off x="4699000" y="4940300"/>
            <a:ext cx="889000" cy="177800"/>
          </a:xfrm>
          <a:prstGeom prst="roundRect">
            <a:avLst>
              <a:gd name="adj" fmla="val 40000"/>
            </a:avLst>
          </a:prstGeom>
          <a:solidFill>
            <a:srgbClr val="1A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9000" y="4953000"/>
            <a:ext cx="889000" cy="165100"/>
          </a:xfrm>
          <a:prstGeom prst="rect">
            <a:avLst/>
          </a:prstGeom>
          <a:noFill/>
        </p:spPr>
        <p:txBody>
          <a:bodyPr wrap="square" lIns="0" rIns="0" tIns="0" bIns="0" anchor="t">
            <a:spAutoFit/>
          </a:bodyPr>
          <a:lstStyle/>
          <a:p>
            <a:pPr algn="ctr">
              <a:lnSpc>
                <a:spcPct val="115000"/>
              </a:lnSpc>
            </a:pPr>
            <a:r>
              <a:rPr sz="900" b="1" i="0">
                <a:solidFill>
                  <a:srgbClr val="6CB8DA"/>
                </a:solidFill>
                <a:latin typeface="DM Mono"/>
              </a:rPr>
              <a:t>onlyOwner</a:t>
            </a:r>
          </a:p>
        </p:txBody>
      </p:sp>
      <p:sp>
        <p:nvSpPr>
          <p:cNvPr id="26" name="TextBox 25"/>
          <p:cNvSpPr txBox="1"/>
          <p:nvPr/>
        </p:nvSpPr>
        <p:spPr>
          <a:xfrm>
            <a:off x="1016000" y="5219700"/>
            <a:ext cx="3556000" cy="203200"/>
          </a:xfrm>
          <a:prstGeom prst="rect">
            <a:avLst/>
          </a:prstGeom>
          <a:noFill/>
        </p:spPr>
        <p:txBody>
          <a:bodyPr wrap="square" lIns="0" rIns="0" tIns="0" bIns="0" anchor="t">
            <a:spAutoFit/>
          </a:bodyPr>
          <a:lstStyle/>
          <a:p>
            <a:pPr algn="l">
              <a:lnSpc>
                <a:spcPct val="115000"/>
              </a:lnSpc>
            </a:pPr>
            <a:r>
              <a:rPr sz="1050" b="0" i="0">
                <a:solidFill>
                  <a:srgbClr val="D9A04A"/>
                </a:solidFill>
                <a:latin typeface="DM Mono"/>
              </a:rPr>
              <a:t>payBillOnChain(billId, patientId)</a:t>
            </a:r>
          </a:p>
        </p:txBody>
      </p:sp>
      <p:sp>
        <p:nvSpPr>
          <p:cNvPr id="27" name="Rounded Rectangle 26"/>
          <p:cNvSpPr/>
          <p:nvPr/>
        </p:nvSpPr>
        <p:spPr>
          <a:xfrm>
            <a:off x="4699000" y="5245100"/>
            <a:ext cx="889000" cy="177800"/>
          </a:xfrm>
          <a:prstGeom prst="roundRect">
            <a:avLst>
              <a:gd name="adj" fmla="val 40000"/>
            </a:avLst>
          </a:prstGeom>
          <a:solidFill>
            <a:srgbClr val="1A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9000" y="5257800"/>
            <a:ext cx="889000" cy="165100"/>
          </a:xfrm>
          <a:prstGeom prst="rect">
            <a:avLst/>
          </a:prstGeom>
          <a:noFill/>
        </p:spPr>
        <p:txBody>
          <a:bodyPr wrap="square" lIns="0" rIns="0" tIns="0" bIns="0" anchor="t">
            <a:spAutoFit/>
          </a:bodyPr>
          <a:lstStyle/>
          <a:p>
            <a:pPr algn="ctr">
              <a:lnSpc>
                <a:spcPct val="115000"/>
              </a:lnSpc>
            </a:pPr>
            <a:r>
              <a:rPr sz="900" b="1" i="0">
                <a:solidFill>
                  <a:srgbClr val="D9A04A"/>
                </a:solidFill>
                <a:latin typeface="DM Mono"/>
              </a:rPr>
              <a:t>payable</a:t>
            </a:r>
          </a:p>
        </p:txBody>
      </p:sp>
      <p:sp>
        <p:nvSpPr>
          <p:cNvPr id="29" name="TextBox 28"/>
          <p:cNvSpPr txBox="1"/>
          <p:nvPr/>
        </p:nvSpPr>
        <p:spPr>
          <a:xfrm>
            <a:off x="1016000" y="5524500"/>
            <a:ext cx="3556000" cy="203200"/>
          </a:xfrm>
          <a:prstGeom prst="rect">
            <a:avLst/>
          </a:prstGeom>
          <a:noFill/>
        </p:spPr>
        <p:txBody>
          <a:bodyPr wrap="square" lIns="0" rIns="0" tIns="0" bIns="0" anchor="t">
            <a:spAutoFit/>
          </a:bodyPr>
          <a:lstStyle/>
          <a:p>
            <a:pPr algn="l">
              <a:lnSpc>
                <a:spcPct val="115000"/>
              </a:lnSpc>
            </a:pPr>
            <a:r>
              <a:rPr sz="1050" b="0" i="0">
                <a:solidFill>
                  <a:srgbClr val="D9A04A"/>
                </a:solidFill>
                <a:latin typeface="DM Mono"/>
              </a:rPr>
              <a:t>get*(id) — direct chain read</a:t>
            </a:r>
          </a:p>
        </p:txBody>
      </p:sp>
      <p:sp>
        <p:nvSpPr>
          <p:cNvPr id="30" name="Rounded Rectangle 29"/>
          <p:cNvSpPr/>
          <p:nvPr/>
        </p:nvSpPr>
        <p:spPr>
          <a:xfrm>
            <a:off x="4699000" y="5549900"/>
            <a:ext cx="889000" cy="177800"/>
          </a:xfrm>
          <a:prstGeom prst="roundRect">
            <a:avLst>
              <a:gd name="adj" fmla="val 40000"/>
            </a:avLst>
          </a:prstGeom>
          <a:solidFill>
            <a:srgbClr val="1A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9000" y="5562600"/>
            <a:ext cx="889000" cy="165100"/>
          </a:xfrm>
          <a:prstGeom prst="rect">
            <a:avLst/>
          </a:prstGeom>
          <a:noFill/>
        </p:spPr>
        <p:txBody>
          <a:bodyPr wrap="square" lIns="0" rIns="0" tIns="0" bIns="0" anchor="t">
            <a:spAutoFit/>
          </a:bodyPr>
          <a:lstStyle/>
          <a:p>
            <a:pPr algn="ctr">
              <a:lnSpc>
                <a:spcPct val="115000"/>
              </a:lnSpc>
            </a:pPr>
            <a:r>
              <a:rPr sz="900" b="1" i="0">
                <a:solidFill>
                  <a:srgbClr val="7AD2C0"/>
                </a:solidFill>
                <a:latin typeface="DM Mono"/>
              </a:rPr>
              <a:t>public view</a:t>
            </a:r>
          </a:p>
        </p:txBody>
      </p:sp>
      <p:sp>
        <p:nvSpPr>
          <p:cNvPr id="32" name="Rounded Rectangle 31"/>
          <p:cNvSpPr/>
          <p:nvPr/>
        </p:nvSpPr>
        <p:spPr>
          <a:xfrm>
            <a:off x="5969000" y="1905000"/>
            <a:ext cx="5461000" cy="4254500"/>
          </a:xfrm>
          <a:prstGeom prst="roundRect">
            <a:avLst>
              <a:gd name="adj" fmla="val 4000"/>
            </a:avLst>
          </a:prstGeom>
          <a:solidFill>
            <a:srgbClr val="0A1422"/>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969000" y="1905000"/>
            <a:ext cx="5461000" cy="317500"/>
          </a:xfrm>
          <a:prstGeom prst="roundRect">
            <a:avLst>
              <a:gd name="adj" fmla="val 8000"/>
            </a:avLst>
          </a:prstGeom>
          <a:solidFill>
            <a:srgbClr val="15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1400" y="1993900"/>
            <a:ext cx="5156200" cy="177800"/>
          </a:xfrm>
          <a:prstGeom prst="rect">
            <a:avLst/>
          </a:prstGeom>
          <a:noFill/>
        </p:spPr>
        <p:txBody>
          <a:bodyPr wrap="square" lIns="0" rIns="0" tIns="0" bIns="0" anchor="t">
            <a:spAutoFit/>
          </a:bodyPr>
          <a:lstStyle/>
          <a:p>
            <a:pPr algn="l">
              <a:lnSpc>
                <a:spcPct val="115000"/>
              </a:lnSpc>
            </a:pPr>
            <a:r>
              <a:rPr sz="1100" b="1" i="0">
                <a:solidFill>
                  <a:srgbClr val="6CB8DA"/>
                </a:solidFill>
                <a:latin typeface="DM Mono"/>
              </a:rPr>
              <a:t>HospitalRecords.sol · payBillOnChain</a:t>
            </a:r>
          </a:p>
        </p:txBody>
      </p:sp>
      <p:sp>
        <p:nvSpPr>
          <p:cNvPr id="35" name="TextBox 34"/>
          <p:cNvSpPr txBox="1"/>
          <p:nvPr/>
        </p:nvSpPr>
        <p:spPr>
          <a:xfrm>
            <a:off x="6121400" y="24130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function payBillOnChain(</a:t>
            </a:r>
          </a:p>
        </p:txBody>
      </p:sp>
      <p:sp>
        <p:nvSpPr>
          <p:cNvPr id="36" name="TextBox 35"/>
          <p:cNvSpPr txBox="1"/>
          <p:nvPr/>
        </p:nvSpPr>
        <p:spPr>
          <a:xfrm>
            <a:off x="6121400" y="26924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string memory _billId,</a:t>
            </a:r>
          </a:p>
        </p:txBody>
      </p:sp>
      <p:sp>
        <p:nvSpPr>
          <p:cNvPr id="37" name="TextBox 36"/>
          <p:cNvSpPr txBox="1"/>
          <p:nvPr/>
        </p:nvSpPr>
        <p:spPr>
          <a:xfrm>
            <a:off x="6121400" y="29718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string memory _patientId</a:t>
            </a:r>
          </a:p>
        </p:txBody>
      </p:sp>
      <p:sp>
        <p:nvSpPr>
          <p:cNvPr id="38" name="TextBox 37"/>
          <p:cNvSpPr txBox="1"/>
          <p:nvPr/>
        </p:nvSpPr>
        <p:spPr>
          <a:xfrm>
            <a:off x="6121400" y="32512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public payable {</a:t>
            </a:r>
          </a:p>
        </p:txBody>
      </p:sp>
      <p:sp>
        <p:nvSpPr>
          <p:cNvPr id="39" name="TextBox 38"/>
          <p:cNvSpPr txBox="1"/>
          <p:nvPr/>
        </p:nvSpPr>
        <p:spPr>
          <a:xfrm>
            <a:off x="6121400" y="3530600"/>
            <a:ext cx="5156200" cy="203200"/>
          </a:xfrm>
          <a:prstGeom prst="rect">
            <a:avLst/>
          </a:prstGeom>
          <a:noFill/>
        </p:spPr>
        <p:txBody>
          <a:bodyPr wrap="square" lIns="0" rIns="0" tIns="0" bIns="0" anchor="t">
            <a:spAutoFit/>
          </a:bodyPr>
          <a:lstStyle/>
          <a:p>
            <a:pPr algn="l">
              <a:lnSpc>
                <a:spcPct val="125000"/>
              </a:lnSpc>
            </a:pPr>
            <a:r>
              <a:rPr sz="1100" b="0" i="0">
                <a:solidFill>
                  <a:srgbClr val="DEBB6E"/>
                </a:solidFill>
                <a:latin typeface="DM Mono"/>
              </a:rPr>
              <a:t>    require(msg.value &gt; 0, "Must send ETH");</a:t>
            </a:r>
          </a:p>
        </p:txBody>
      </p:sp>
      <p:sp>
        <p:nvSpPr>
          <p:cNvPr id="40" name="TextBox 39"/>
          <p:cNvSpPr txBox="1"/>
          <p:nvPr/>
        </p:nvSpPr>
        <p:spPr>
          <a:xfrm>
            <a:off x="6121400" y="38100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billingRecords[_billId].status = "paid";</a:t>
            </a:r>
          </a:p>
        </p:txBody>
      </p:sp>
      <p:sp>
        <p:nvSpPr>
          <p:cNvPr id="41" name="TextBox 40"/>
          <p:cNvSpPr txBox="1"/>
          <p:nvPr/>
        </p:nvSpPr>
        <p:spPr>
          <a:xfrm>
            <a:off x="6121400" y="40894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billingRecords[_billId].paidBy = msg.sender;</a:t>
            </a:r>
          </a:p>
        </p:txBody>
      </p:sp>
      <p:sp>
        <p:nvSpPr>
          <p:cNvPr id="42" name="TextBox 41"/>
          <p:cNvSpPr txBox="1"/>
          <p:nvPr/>
        </p:nvSpPr>
        <p:spPr>
          <a:xfrm>
            <a:off x="6121400" y="4368800"/>
            <a:ext cx="5156200" cy="203200"/>
          </a:xfrm>
          <a:prstGeom prst="rect">
            <a:avLst/>
          </a:prstGeom>
          <a:noFill/>
        </p:spPr>
        <p:txBody>
          <a:bodyPr wrap="square" lIns="0" rIns="0" tIns="0" bIns="0" anchor="t">
            <a:spAutoFit/>
          </a:bodyPr>
          <a:lstStyle/>
          <a:p>
            <a:pPr algn="l">
              <a:lnSpc>
                <a:spcPct val="125000"/>
              </a:lnSpc>
            </a:pPr>
            <a:r>
              <a:rPr sz="1100" b="0" i="0">
                <a:solidFill>
                  <a:srgbClr val="B3E0A8"/>
                </a:solidFill>
                <a:latin typeface="DM Mono"/>
              </a:rPr>
              <a:t>    payable(owner).transfer(msg.value);</a:t>
            </a:r>
          </a:p>
        </p:txBody>
      </p:sp>
      <p:sp>
        <p:nvSpPr>
          <p:cNvPr id="43" name="TextBox 42"/>
          <p:cNvSpPr txBox="1"/>
          <p:nvPr/>
        </p:nvSpPr>
        <p:spPr>
          <a:xfrm>
            <a:off x="6121400" y="46482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emit PaymentReceived(</a:t>
            </a:r>
          </a:p>
        </p:txBody>
      </p:sp>
      <p:sp>
        <p:nvSpPr>
          <p:cNvPr id="44" name="TextBox 43"/>
          <p:cNvSpPr txBox="1"/>
          <p:nvPr/>
        </p:nvSpPr>
        <p:spPr>
          <a:xfrm>
            <a:off x="6121400" y="49276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_billId, msg.sender, msg.value, block.timestamp</a:t>
            </a:r>
          </a:p>
        </p:txBody>
      </p:sp>
      <p:sp>
        <p:nvSpPr>
          <p:cNvPr id="45" name="TextBox 44"/>
          <p:cNvSpPr txBox="1"/>
          <p:nvPr/>
        </p:nvSpPr>
        <p:spPr>
          <a:xfrm>
            <a:off x="6121400" y="52070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    );</a:t>
            </a:r>
          </a:p>
        </p:txBody>
      </p:sp>
      <p:sp>
        <p:nvSpPr>
          <p:cNvPr id="46" name="TextBox 45"/>
          <p:cNvSpPr txBox="1"/>
          <p:nvPr/>
        </p:nvSpPr>
        <p:spPr>
          <a:xfrm>
            <a:off x="6121400" y="5486400"/>
            <a:ext cx="5156200" cy="203200"/>
          </a:xfrm>
          <a:prstGeom prst="rect">
            <a:avLst/>
          </a:prstGeom>
          <a:noFill/>
        </p:spPr>
        <p:txBody>
          <a:bodyPr wrap="square" lIns="0" rIns="0" tIns="0" bIns="0" anchor="t">
            <a:spAutoFit/>
          </a:bodyPr>
          <a:lstStyle/>
          <a:p>
            <a:pPr algn="l">
              <a:lnSpc>
                <a:spcPct val="125000"/>
              </a:lnSpc>
            </a:pPr>
            <a:r>
              <a:rPr sz="1100" b="0" i="0">
                <a:solidFill>
                  <a:srgbClr val="D6E4F2"/>
                </a:solidFill>
                <a:latin typeface="DM Mono"/>
              </a:rPr>
              <a:t>}</a:t>
            </a:r>
          </a:p>
        </p:txBody>
      </p:sp>
      <p:sp>
        <p:nvSpPr>
          <p:cNvPr id="47" name="TextBox 46"/>
          <p:cNvSpPr txBox="1"/>
          <p:nvPr/>
        </p:nvSpPr>
        <p:spPr>
          <a:xfrm>
            <a:off x="6121400" y="5651500"/>
            <a:ext cx="5156200" cy="381000"/>
          </a:xfrm>
          <a:prstGeom prst="rect">
            <a:avLst/>
          </a:prstGeom>
          <a:noFill/>
        </p:spPr>
        <p:txBody>
          <a:bodyPr wrap="square" lIns="0" rIns="0" tIns="0" bIns="0" anchor="t">
            <a:spAutoFit/>
          </a:bodyPr>
          <a:lstStyle/>
          <a:p>
            <a:pPr algn="l">
              <a:lnSpc>
                <a:spcPct val="140000"/>
              </a:lnSpc>
            </a:pPr>
            <a:r>
              <a:rPr sz="1000" b="0" i="1">
                <a:solidFill>
                  <a:srgbClr val="7AD2C0"/>
                </a:solidFill>
                <a:latin typeface="DM Sans"/>
              </a:rPr>
              <a:t>Patient → MetaMask → contract. No backend custody.</a:t>
            </a:r>
          </a:p>
          <a:p>
            <a:pPr algn="l">
              <a:lnSpc>
                <a:spcPct val="140000"/>
              </a:lnSpc>
            </a:pPr>
            <a:r>
              <a:rPr sz="1000" b="0" i="1">
                <a:solidFill>
                  <a:srgbClr val="7AD2C0"/>
                </a:solidFill>
                <a:latin typeface="DM Sans"/>
              </a:rPr>
              <a:t>msg.value is forwarded to owner; status flips inside the EVM.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05 — INTERACTIONS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Blockchain Interaction Flow</a:t>
            </a:r>
          </a:p>
        </p:txBody>
      </p:sp>
      <p:sp>
        <p:nvSpPr>
          <p:cNvPr id="5" name="TextBox 4"/>
          <p:cNvSpPr txBox="1"/>
          <p:nvPr/>
        </p:nvSpPr>
        <p:spPr>
          <a:xfrm>
            <a:off x="762000" y="1460500"/>
            <a:ext cx="10668000" cy="254000"/>
          </a:xfrm>
          <a:prstGeom prst="rect">
            <a:avLst/>
          </a:prstGeom>
          <a:noFill/>
        </p:spPr>
        <p:txBody>
          <a:bodyPr wrap="square" lIns="0" rIns="0" tIns="0" bIns="0" anchor="t">
            <a:spAutoFit/>
          </a:bodyPr>
          <a:lstStyle/>
          <a:p>
            <a:pPr algn="l">
              <a:lnSpc>
                <a:spcPct val="115000"/>
              </a:lnSpc>
            </a:pPr>
            <a:r>
              <a:rPr sz="1200" b="0" i="1">
                <a:solidFill>
                  <a:srgbClr val="5A6A7E"/>
                </a:solidFill>
                <a:latin typeface="DM Sans"/>
              </a:rPr>
              <a:t>Example: Patient books an appointment — on-chain trail across five lanes</a:t>
            </a:r>
          </a:p>
        </p:txBody>
      </p:sp>
      <p:sp>
        <p:nvSpPr>
          <p:cNvPr id="6" name="Rounded Rectangle 5"/>
          <p:cNvSpPr/>
          <p:nvPr/>
        </p:nvSpPr>
        <p:spPr>
          <a:xfrm>
            <a:off x="762000" y="1905000"/>
            <a:ext cx="2133600" cy="381000"/>
          </a:xfrm>
          <a:prstGeom prst="roundRect">
            <a:avLst>
              <a:gd name="adj" fmla="val 5000"/>
            </a:avLst>
          </a:prstGeom>
          <a:solidFill>
            <a:srgbClr val="D9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2000" y="1993900"/>
            <a:ext cx="2133600" cy="215900"/>
          </a:xfrm>
          <a:prstGeom prst="rect">
            <a:avLst/>
          </a:prstGeom>
          <a:noFill/>
        </p:spPr>
        <p:txBody>
          <a:bodyPr wrap="square" lIns="0" rIns="0" tIns="0" bIns="0" anchor="t">
            <a:spAutoFit/>
          </a:bodyPr>
          <a:lstStyle/>
          <a:p>
            <a:pPr algn="ctr">
              <a:lnSpc>
                <a:spcPct val="115000"/>
              </a:lnSpc>
            </a:pPr>
            <a:r>
              <a:rPr sz="1200" b="1" i="0" spc="200">
                <a:solidFill>
                  <a:srgbClr val="F9FAFB"/>
                </a:solidFill>
                <a:latin typeface="DM Sans"/>
              </a:rPr>
              <a:t>PATIENT</a:t>
            </a:r>
          </a:p>
        </p:txBody>
      </p:sp>
      <p:sp>
        <p:nvSpPr>
          <p:cNvPr id="8" name="Rectangle 7"/>
          <p:cNvSpPr/>
          <p:nvPr/>
        </p:nvSpPr>
        <p:spPr>
          <a:xfrm>
            <a:off x="762000" y="2286000"/>
            <a:ext cx="2133600" cy="3556000"/>
          </a:xfrm>
          <a:prstGeom prst="rect">
            <a:avLst/>
          </a:prstGeom>
          <a:solidFill>
            <a:srgbClr val="F9FAFB"/>
          </a:solidFill>
          <a:ln w="63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95600" y="1905000"/>
            <a:ext cx="2133600" cy="381000"/>
          </a:xfrm>
          <a:prstGeom prst="roundRect">
            <a:avLst>
              <a:gd name="adj" fmla="val 5000"/>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95600" y="1993900"/>
            <a:ext cx="2133600" cy="215900"/>
          </a:xfrm>
          <a:prstGeom prst="rect">
            <a:avLst/>
          </a:prstGeom>
          <a:noFill/>
        </p:spPr>
        <p:txBody>
          <a:bodyPr wrap="square" lIns="0" rIns="0" tIns="0" bIns="0" anchor="t">
            <a:spAutoFit/>
          </a:bodyPr>
          <a:lstStyle/>
          <a:p>
            <a:pPr algn="ctr">
              <a:lnSpc>
                <a:spcPct val="115000"/>
              </a:lnSpc>
            </a:pPr>
            <a:r>
              <a:rPr sz="1200" b="1" i="0" spc="200">
                <a:solidFill>
                  <a:srgbClr val="F9FAFB"/>
                </a:solidFill>
                <a:latin typeface="DM Sans"/>
              </a:rPr>
              <a:t>REACT UI</a:t>
            </a:r>
          </a:p>
        </p:txBody>
      </p:sp>
      <p:sp>
        <p:nvSpPr>
          <p:cNvPr id="11" name="Rectangle 10"/>
          <p:cNvSpPr/>
          <p:nvPr/>
        </p:nvSpPr>
        <p:spPr>
          <a:xfrm>
            <a:off x="2895600" y="2286000"/>
            <a:ext cx="2133600" cy="3556000"/>
          </a:xfrm>
          <a:prstGeom prst="rect">
            <a:avLst/>
          </a:prstGeom>
          <a:solidFill>
            <a:srgbClr val="F5F7FA"/>
          </a:solidFill>
          <a:ln w="63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0" y="1905000"/>
            <a:ext cx="2133600" cy="381000"/>
          </a:xfrm>
          <a:prstGeom prst="roundRect">
            <a:avLst>
              <a:gd name="adj" fmla="val 5000"/>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993900"/>
            <a:ext cx="2133600" cy="215900"/>
          </a:xfrm>
          <a:prstGeom prst="rect">
            <a:avLst/>
          </a:prstGeom>
          <a:noFill/>
        </p:spPr>
        <p:txBody>
          <a:bodyPr wrap="square" lIns="0" rIns="0" tIns="0" bIns="0" anchor="t">
            <a:spAutoFit/>
          </a:bodyPr>
          <a:lstStyle/>
          <a:p>
            <a:pPr algn="ctr">
              <a:lnSpc>
                <a:spcPct val="115000"/>
              </a:lnSpc>
            </a:pPr>
            <a:r>
              <a:rPr sz="1200" b="1" i="0" spc="200">
                <a:solidFill>
                  <a:srgbClr val="F9FAFB"/>
                </a:solidFill>
                <a:latin typeface="DM Sans"/>
              </a:rPr>
              <a:t>EXPRESS</a:t>
            </a:r>
          </a:p>
        </p:txBody>
      </p:sp>
      <p:sp>
        <p:nvSpPr>
          <p:cNvPr id="14" name="Rectangle 13"/>
          <p:cNvSpPr/>
          <p:nvPr/>
        </p:nvSpPr>
        <p:spPr>
          <a:xfrm>
            <a:off x="5029200" y="2286000"/>
            <a:ext cx="2133600" cy="3556000"/>
          </a:xfrm>
          <a:prstGeom prst="rect">
            <a:avLst/>
          </a:prstGeom>
          <a:solidFill>
            <a:srgbClr val="F9FAFB"/>
          </a:solidFill>
          <a:ln w="63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62800" y="1905000"/>
            <a:ext cx="2133600" cy="381000"/>
          </a:xfrm>
          <a:prstGeom prst="roundRect">
            <a:avLst>
              <a:gd name="adj" fmla="val 5000"/>
            </a:avLst>
          </a:prstGeom>
          <a:solidFill>
            <a:srgbClr val="5AA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62800" y="1993900"/>
            <a:ext cx="2133600" cy="215900"/>
          </a:xfrm>
          <a:prstGeom prst="rect">
            <a:avLst/>
          </a:prstGeom>
          <a:noFill/>
        </p:spPr>
        <p:txBody>
          <a:bodyPr wrap="square" lIns="0" rIns="0" tIns="0" bIns="0" anchor="t">
            <a:spAutoFit/>
          </a:bodyPr>
          <a:lstStyle/>
          <a:p>
            <a:pPr algn="ctr">
              <a:lnSpc>
                <a:spcPct val="115000"/>
              </a:lnSpc>
            </a:pPr>
            <a:r>
              <a:rPr sz="1200" b="1" i="0" spc="200">
                <a:solidFill>
                  <a:srgbClr val="F9FAFB"/>
                </a:solidFill>
                <a:latin typeface="DM Sans"/>
              </a:rPr>
              <a:t>MONGODB</a:t>
            </a:r>
          </a:p>
        </p:txBody>
      </p:sp>
      <p:sp>
        <p:nvSpPr>
          <p:cNvPr id="17" name="Rectangle 16"/>
          <p:cNvSpPr/>
          <p:nvPr/>
        </p:nvSpPr>
        <p:spPr>
          <a:xfrm>
            <a:off x="7162800" y="2286000"/>
            <a:ext cx="2133600" cy="3556000"/>
          </a:xfrm>
          <a:prstGeom prst="rect">
            <a:avLst/>
          </a:prstGeom>
          <a:solidFill>
            <a:srgbClr val="F5F7FA"/>
          </a:solidFill>
          <a:ln w="63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6400" y="1905000"/>
            <a:ext cx="2133600" cy="381000"/>
          </a:xfrm>
          <a:prstGeom prst="roundRect">
            <a:avLst>
              <a:gd name="adj" fmla="val 5000"/>
            </a:avLst>
          </a:prstGeom>
          <a:solidFill>
            <a:srgbClr val="1497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6400" y="1993900"/>
            <a:ext cx="2133600" cy="215900"/>
          </a:xfrm>
          <a:prstGeom prst="rect">
            <a:avLst/>
          </a:prstGeom>
          <a:noFill/>
        </p:spPr>
        <p:txBody>
          <a:bodyPr wrap="square" lIns="0" rIns="0" tIns="0" bIns="0" anchor="t">
            <a:spAutoFit/>
          </a:bodyPr>
          <a:lstStyle/>
          <a:p>
            <a:pPr algn="ctr">
              <a:lnSpc>
                <a:spcPct val="115000"/>
              </a:lnSpc>
            </a:pPr>
            <a:r>
              <a:rPr sz="1200" b="1" i="0" spc="200">
                <a:solidFill>
                  <a:srgbClr val="F9FAFB"/>
                </a:solidFill>
                <a:latin typeface="DM Sans"/>
              </a:rPr>
              <a:t>GANACHE</a:t>
            </a:r>
          </a:p>
        </p:txBody>
      </p:sp>
      <p:sp>
        <p:nvSpPr>
          <p:cNvPr id="20" name="Rectangle 19"/>
          <p:cNvSpPr/>
          <p:nvPr/>
        </p:nvSpPr>
        <p:spPr>
          <a:xfrm>
            <a:off x="9296400" y="2286000"/>
            <a:ext cx="2133600" cy="3556000"/>
          </a:xfrm>
          <a:prstGeom prst="rect">
            <a:avLst/>
          </a:prstGeom>
          <a:solidFill>
            <a:srgbClr val="F9FAFB"/>
          </a:solidFill>
          <a:ln w="63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47800" y="26035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1</a:t>
            </a:r>
          </a:p>
        </p:txBody>
      </p:sp>
      <p:sp>
        <p:nvSpPr>
          <p:cNvPr id="22" name="TextBox 21"/>
          <p:cNvSpPr txBox="1"/>
          <p:nvPr/>
        </p:nvSpPr>
        <p:spPr>
          <a:xfrm>
            <a:off x="1765300" y="26162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Fills booking</a:t>
            </a:r>
          </a:p>
          <a:p>
            <a:pPr algn="l">
              <a:lnSpc>
                <a:spcPct val="115000"/>
              </a:lnSpc>
            </a:pPr>
            <a:r>
              <a:rPr sz="1000" b="1" i="0">
                <a:solidFill>
                  <a:srgbClr val="0D1B2A"/>
                </a:solidFill>
                <a:latin typeface="DM Sans"/>
              </a:rPr>
              <a:t>form</a:t>
            </a:r>
          </a:p>
        </p:txBody>
      </p:sp>
      <p:sp>
        <p:nvSpPr>
          <p:cNvPr id="23" name="TextBox 22"/>
          <p:cNvSpPr txBox="1"/>
          <p:nvPr/>
        </p:nvSpPr>
        <p:spPr>
          <a:xfrm>
            <a:off x="1765300" y="29464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POST /api/</a:t>
            </a:r>
          </a:p>
          <a:p>
            <a:pPr algn="l">
              <a:lnSpc>
                <a:spcPct val="125000"/>
              </a:lnSpc>
            </a:pPr>
            <a:r>
              <a:rPr sz="900" b="0" i="0">
                <a:solidFill>
                  <a:srgbClr val="5A6A7E"/>
                </a:solidFill>
                <a:latin typeface="DM Sans"/>
              </a:rPr>
              <a:t>appointments</a:t>
            </a:r>
          </a:p>
        </p:txBody>
      </p:sp>
      <p:sp>
        <p:nvSpPr>
          <p:cNvPr id="24" name="Oval 23"/>
          <p:cNvSpPr/>
          <p:nvPr/>
        </p:nvSpPr>
        <p:spPr>
          <a:xfrm>
            <a:off x="3581400" y="26035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2</a:t>
            </a:r>
          </a:p>
        </p:txBody>
      </p:sp>
      <p:sp>
        <p:nvSpPr>
          <p:cNvPr id="25" name="TextBox 24"/>
          <p:cNvSpPr txBox="1"/>
          <p:nvPr/>
        </p:nvSpPr>
        <p:spPr>
          <a:xfrm>
            <a:off x="3898900" y="26162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JWT-auth'd</a:t>
            </a:r>
          </a:p>
          <a:p>
            <a:pPr algn="l">
              <a:lnSpc>
                <a:spcPct val="115000"/>
              </a:lnSpc>
            </a:pPr>
            <a:r>
              <a:rPr sz="1000" b="1" i="0">
                <a:solidFill>
                  <a:srgbClr val="0D1B2A"/>
                </a:solidFill>
                <a:latin typeface="DM Sans"/>
              </a:rPr>
              <a:t>request</a:t>
            </a:r>
          </a:p>
        </p:txBody>
      </p:sp>
      <p:sp>
        <p:nvSpPr>
          <p:cNvPr id="26" name="TextBox 25"/>
          <p:cNvSpPr txBox="1"/>
          <p:nvPr/>
        </p:nvSpPr>
        <p:spPr>
          <a:xfrm>
            <a:off x="3898900" y="29464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Bearer token</a:t>
            </a:r>
          </a:p>
          <a:p>
            <a:pPr algn="l">
              <a:lnSpc>
                <a:spcPct val="125000"/>
              </a:lnSpc>
            </a:pPr>
            <a:r>
              <a:rPr sz="900" b="0" i="0">
                <a:solidFill>
                  <a:srgbClr val="5A6A7E"/>
                </a:solidFill>
                <a:latin typeface="DM Sans"/>
              </a:rPr>
              <a:t>verified</a:t>
            </a:r>
          </a:p>
        </p:txBody>
      </p:sp>
      <p:sp>
        <p:nvSpPr>
          <p:cNvPr id="27" name="Oval 26"/>
          <p:cNvSpPr/>
          <p:nvPr/>
        </p:nvSpPr>
        <p:spPr>
          <a:xfrm>
            <a:off x="5715000" y="33020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3</a:t>
            </a:r>
          </a:p>
        </p:txBody>
      </p:sp>
      <p:sp>
        <p:nvSpPr>
          <p:cNvPr id="28" name="TextBox 27"/>
          <p:cNvSpPr txBox="1"/>
          <p:nvPr/>
        </p:nvSpPr>
        <p:spPr>
          <a:xfrm>
            <a:off x="6032500" y="33147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Creates</a:t>
            </a:r>
          </a:p>
          <a:p>
            <a:pPr algn="l">
              <a:lnSpc>
                <a:spcPct val="115000"/>
              </a:lnSpc>
            </a:pPr>
            <a:r>
              <a:rPr sz="1000" b="1" i="0">
                <a:solidFill>
                  <a:srgbClr val="0D1B2A"/>
                </a:solidFill>
                <a:latin typeface="DM Sans"/>
              </a:rPr>
              <a:t>Appointment</a:t>
            </a:r>
          </a:p>
        </p:txBody>
      </p:sp>
      <p:sp>
        <p:nvSpPr>
          <p:cNvPr id="29" name="TextBox 28"/>
          <p:cNvSpPr txBox="1"/>
          <p:nvPr/>
        </p:nvSpPr>
        <p:spPr>
          <a:xfrm>
            <a:off x="6032500" y="36449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Mongoose</a:t>
            </a:r>
          </a:p>
          <a:p>
            <a:pPr algn="l">
              <a:lnSpc>
                <a:spcPct val="125000"/>
              </a:lnSpc>
            </a:pPr>
            <a:r>
              <a:rPr sz="900" b="0" i="0">
                <a:solidFill>
                  <a:srgbClr val="5A6A7E"/>
                </a:solidFill>
                <a:latin typeface="DM Sans"/>
              </a:rPr>
              <a:t>schema write</a:t>
            </a:r>
          </a:p>
        </p:txBody>
      </p:sp>
      <p:sp>
        <p:nvSpPr>
          <p:cNvPr id="30" name="Oval 29"/>
          <p:cNvSpPr/>
          <p:nvPr/>
        </p:nvSpPr>
        <p:spPr>
          <a:xfrm>
            <a:off x="7848600" y="33020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4</a:t>
            </a:r>
          </a:p>
        </p:txBody>
      </p:sp>
      <p:sp>
        <p:nvSpPr>
          <p:cNvPr id="31" name="TextBox 30"/>
          <p:cNvSpPr txBox="1"/>
          <p:nvPr/>
        </p:nvSpPr>
        <p:spPr>
          <a:xfrm>
            <a:off x="8166100" y="33147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Document</a:t>
            </a:r>
          </a:p>
          <a:p>
            <a:pPr algn="l">
              <a:lnSpc>
                <a:spcPct val="115000"/>
              </a:lnSpc>
            </a:pPr>
            <a:r>
              <a:rPr sz="1000" b="1" i="0">
                <a:solidFill>
                  <a:srgbClr val="0D1B2A"/>
                </a:solidFill>
                <a:latin typeface="DM Sans"/>
              </a:rPr>
              <a:t>persisted</a:t>
            </a:r>
          </a:p>
        </p:txBody>
      </p:sp>
      <p:sp>
        <p:nvSpPr>
          <p:cNvPr id="32" name="TextBox 31"/>
          <p:cNvSpPr txBox="1"/>
          <p:nvPr/>
        </p:nvSpPr>
        <p:spPr>
          <a:xfrm>
            <a:off x="8166100" y="36449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ObjectId</a:t>
            </a:r>
          </a:p>
          <a:p>
            <a:pPr algn="l">
              <a:lnSpc>
                <a:spcPct val="125000"/>
              </a:lnSpc>
            </a:pPr>
            <a:r>
              <a:rPr sz="900" b="0" i="0">
                <a:solidFill>
                  <a:srgbClr val="5A6A7E"/>
                </a:solidFill>
                <a:latin typeface="DM Sans"/>
              </a:rPr>
              <a:t>returned</a:t>
            </a:r>
          </a:p>
        </p:txBody>
      </p:sp>
      <p:sp>
        <p:nvSpPr>
          <p:cNvPr id="33" name="Oval 32"/>
          <p:cNvSpPr/>
          <p:nvPr/>
        </p:nvSpPr>
        <p:spPr>
          <a:xfrm>
            <a:off x="5715000" y="40005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5</a:t>
            </a:r>
          </a:p>
        </p:txBody>
      </p:sp>
      <p:sp>
        <p:nvSpPr>
          <p:cNvPr id="34" name="TextBox 33"/>
          <p:cNvSpPr txBox="1"/>
          <p:nvPr/>
        </p:nvSpPr>
        <p:spPr>
          <a:xfrm>
            <a:off x="6032500" y="40132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logAppointment()</a:t>
            </a:r>
          </a:p>
        </p:txBody>
      </p:sp>
      <p:sp>
        <p:nvSpPr>
          <p:cNvPr id="35" name="TextBox 34"/>
          <p:cNvSpPr txBox="1"/>
          <p:nvPr/>
        </p:nvSpPr>
        <p:spPr>
          <a:xfrm>
            <a:off x="6032500" y="43434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web3.send</a:t>
            </a:r>
          </a:p>
          <a:p>
            <a:pPr algn="l">
              <a:lnSpc>
                <a:spcPct val="125000"/>
              </a:lnSpc>
            </a:pPr>
            <a:r>
              <a:rPr sz="900" b="0" i="0">
                <a:solidFill>
                  <a:srgbClr val="5A6A7E"/>
                </a:solidFill>
                <a:latin typeface="DM Sans"/>
              </a:rPr>
              <a:t>signed tx</a:t>
            </a:r>
          </a:p>
        </p:txBody>
      </p:sp>
      <p:sp>
        <p:nvSpPr>
          <p:cNvPr id="36" name="Oval 35"/>
          <p:cNvSpPr/>
          <p:nvPr/>
        </p:nvSpPr>
        <p:spPr>
          <a:xfrm>
            <a:off x="9982200" y="40005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6</a:t>
            </a:r>
          </a:p>
        </p:txBody>
      </p:sp>
      <p:sp>
        <p:nvSpPr>
          <p:cNvPr id="37" name="TextBox 36"/>
          <p:cNvSpPr txBox="1"/>
          <p:nvPr/>
        </p:nvSpPr>
        <p:spPr>
          <a:xfrm>
            <a:off x="10299700" y="40132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Tx mined,</a:t>
            </a:r>
          </a:p>
          <a:p>
            <a:pPr algn="l">
              <a:lnSpc>
                <a:spcPct val="115000"/>
              </a:lnSpc>
            </a:pPr>
            <a:r>
              <a:rPr sz="1000" b="1" i="0">
                <a:solidFill>
                  <a:srgbClr val="0D1B2A"/>
                </a:solidFill>
                <a:latin typeface="DM Sans"/>
              </a:rPr>
              <a:t>hash returned</a:t>
            </a:r>
          </a:p>
        </p:txBody>
      </p:sp>
      <p:sp>
        <p:nvSpPr>
          <p:cNvPr id="38" name="TextBox 37"/>
          <p:cNvSpPr txBox="1"/>
          <p:nvPr/>
        </p:nvSpPr>
        <p:spPr>
          <a:xfrm>
            <a:off x="10299700" y="43434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block.timestamp</a:t>
            </a:r>
          </a:p>
          <a:p>
            <a:pPr algn="l">
              <a:lnSpc>
                <a:spcPct val="125000"/>
              </a:lnSpc>
            </a:pPr>
            <a:r>
              <a:rPr sz="900" b="0" i="0">
                <a:solidFill>
                  <a:srgbClr val="5A6A7E"/>
                </a:solidFill>
                <a:latin typeface="DM Sans"/>
              </a:rPr>
              <a:t>recorded</a:t>
            </a:r>
          </a:p>
        </p:txBody>
      </p:sp>
      <p:sp>
        <p:nvSpPr>
          <p:cNvPr id="39" name="Oval 38"/>
          <p:cNvSpPr/>
          <p:nvPr/>
        </p:nvSpPr>
        <p:spPr>
          <a:xfrm>
            <a:off x="7848600" y="46990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7</a:t>
            </a:r>
          </a:p>
        </p:txBody>
      </p:sp>
      <p:sp>
        <p:nvSpPr>
          <p:cNvPr id="40" name="TextBox 39"/>
          <p:cNvSpPr txBox="1"/>
          <p:nvPr/>
        </p:nvSpPr>
        <p:spPr>
          <a:xfrm>
            <a:off x="8166100" y="47117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txHash +</a:t>
            </a:r>
          </a:p>
          <a:p>
            <a:pPr algn="l">
              <a:lnSpc>
                <a:spcPct val="115000"/>
              </a:lnSpc>
            </a:pPr>
            <a:r>
              <a:rPr sz="1000" b="1" i="0">
                <a:solidFill>
                  <a:srgbClr val="0D1B2A"/>
                </a:solidFill>
                <a:latin typeface="DM Sans"/>
              </a:rPr>
              <a:t>status='logged'</a:t>
            </a:r>
          </a:p>
        </p:txBody>
      </p:sp>
      <p:sp>
        <p:nvSpPr>
          <p:cNvPr id="41" name="TextBox 40"/>
          <p:cNvSpPr txBox="1"/>
          <p:nvPr/>
        </p:nvSpPr>
        <p:spPr>
          <a:xfrm>
            <a:off x="8166100" y="50419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back on</a:t>
            </a:r>
          </a:p>
          <a:p>
            <a:pPr algn="l">
              <a:lnSpc>
                <a:spcPct val="125000"/>
              </a:lnSpc>
            </a:pPr>
            <a:r>
              <a:rPr sz="900" b="0" i="0">
                <a:solidFill>
                  <a:srgbClr val="5A6A7E"/>
                </a:solidFill>
                <a:latin typeface="DM Sans"/>
              </a:rPr>
              <a:t>Mongo doc</a:t>
            </a:r>
          </a:p>
        </p:txBody>
      </p:sp>
      <p:sp>
        <p:nvSpPr>
          <p:cNvPr id="42" name="Oval 41"/>
          <p:cNvSpPr/>
          <p:nvPr/>
        </p:nvSpPr>
        <p:spPr>
          <a:xfrm>
            <a:off x="3581400" y="4699000"/>
            <a:ext cx="279400" cy="2794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8</a:t>
            </a:r>
          </a:p>
        </p:txBody>
      </p:sp>
      <p:sp>
        <p:nvSpPr>
          <p:cNvPr id="43" name="TextBox 42"/>
          <p:cNvSpPr txBox="1"/>
          <p:nvPr/>
        </p:nvSpPr>
        <p:spPr>
          <a:xfrm>
            <a:off x="3898900" y="4711700"/>
            <a:ext cx="1879600" cy="342900"/>
          </a:xfrm>
          <a:prstGeom prst="rect">
            <a:avLst/>
          </a:prstGeom>
          <a:noFill/>
        </p:spPr>
        <p:txBody>
          <a:bodyPr wrap="square" lIns="0" rIns="0" tIns="0" bIns="0" anchor="t">
            <a:spAutoFit/>
          </a:bodyPr>
          <a:lstStyle/>
          <a:p>
            <a:pPr algn="l">
              <a:lnSpc>
                <a:spcPct val="115000"/>
              </a:lnSpc>
            </a:pPr>
            <a:r>
              <a:rPr sz="1000" b="1" i="0">
                <a:solidFill>
                  <a:srgbClr val="0D1B2A"/>
                </a:solidFill>
                <a:latin typeface="DM Sans"/>
              </a:rPr>
              <a:t>Notification</a:t>
            </a:r>
          </a:p>
          <a:p>
            <a:pPr algn="l">
              <a:lnSpc>
                <a:spcPct val="115000"/>
              </a:lnSpc>
            </a:pPr>
            <a:r>
              <a:rPr sz="1000" b="1" i="0">
                <a:solidFill>
                  <a:srgbClr val="0D1B2A"/>
                </a:solidFill>
                <a:latin typeface="DM Sans"/>
              </a:rPr>
              <a:t>polled (30s)</a:t>
            </a:r>
          </a:p>
        </p:txBody>
      </p:sp>
      <p:sp>
        <p:nvSpPr>
          <p:cNvPr id="44" name="TextBox 43"/>
          <p:cNvSpPr txBox="1"/>
          <p:nvPr/>
        </p:nvSpPr>
        <p:spPr>
          <a:xfrm>
            <a:off x="3898900" y="5041900"/>
            <a:ext cx="1879600" cy="317500"/>
          </a:xfrm>
          <a:prstGeom prst="rect">
            <a:avLst/>
          </a:prstGeom>
          <a:noFill/>
        </p:spPr>
        <p:txBody>
          <a:bodyPr wrap="square" lIns="0" rIns="0" tIns="0" bIns="0" anchor="t">
            <a:spAutoFit/>
          </a:bodyPr>
          <a:lstStyle/>
          <a:p>
            <a:pPr algn="l">
              <a:lnSpc>
                <a:spcPct val="125000"/>
              </a:lnSpc>
            </a:pPr>
            <a:r>
              <a:rPr sz="900" b="0" i="0">
                <a:solidFill>
                  <a:srgbClr val="5A6A7E"/>
                </a:solidFill>
                <a:latin typeface="DM Sans"/>
              </a:rPr>
              <a:t>bell icon</a:t>
            </a:r>
          </a:p>
          <a:p>
            <a:pPr algn="l">
              <a:lnSpc>
                <a:spcPct val="125000"/>
              </a:lnSpc>
            </a:pPr>
            <a:r>
              <a:rPr sz="900" b="0" i="0">
                <a:solidFill>
                  <a:srgbClr val="5A6A7E"/>
                </a:solidFill>
                <a:latin typeface="DM Sans"/>
              </a:rPr>
              <a:t>flashes</a:t>
            </a:r>
          </a:p>
        </p:txBody>
      </p:sp>
      <p:cxnSp>
        <p:nvCxnSpPr>
          <p:cNvPr id="45" name="Connector 44"/>
          <p:cNvCxnSpPr/>
          <p:nvPr/>
        </p:nvCxnSpPr>
        <p:spPr>
          <a:xfrm>
            <a:off x="1955800" y="2743200"/>
            <a:ext cx="1625600" cy="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89400" y="2743200"/>
            <a:ext cx="1625600" cy="69850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223000" y="3441700"/>
            <a:ext cx="1625600" cy="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715000" y="3441700"/>
            <a:ext cx="2641600" cy="69850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223000" y="4140200"/>
            <a:ext cx="3759200" cy="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7848600" y="4140200"/>
            <a:ext cx="2641600" cy="69850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3581400" y="4838700"/>
            <a:ext cx="4775200" cy="0"/>
          </a:xfrm>
          <a:prstGeom prst="line">
            <a:avLst/>
          </a:prstGeom>
          <a:ln w="19050">
            <a:solidFill>
              <a:srgbClr val="5A6A7E"/>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06 — PAYMENT PATHS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Off-Chain vs On-Chain Payment</a:t>
            </a:r>
          </a:p>
        </p:txBody>
      </p:sp>
      <p:sp>
        <p:nvSpPr>
          <p:cNvPr id="5" name="TextBox 4"/>
          <p:cNvSpPr txBox="1"/>
          <p:nvPr/>
        </p:nvSpPr>
        <p:spPr>
          <a:xfrm>
            <a:off x="762000" y="1460500"/>
            <a:ext cx="10668000" cy="254000"/>
          </a:xfrm>
          <a:prstGeom prst="rect">
            <a:avLst/>
          </a:prstGeom>
          <a:noFill/>
        </p:spPr>
        <p:txBody>
          <a:bodyPr wrap="square" lIns="0" rIns="0" tIns="0" bIns="0" anchor="t">
            <a:spAutoFit/>
          </a:bodyPr>
          <a:lstStyle/>
          <a:p>
            <a:pPr algn="l">
              <a:lnSpc>
                <a:spcPct val="115000"/>
              </a:lnSpc>
            </a:pPr>
            <a:r>
              <a:rPr sz="1200" b="0" i="1">
                <a:solidFill>
                  <a:srgbClr val="5A6A7E"/>
                </a:solidFill>
                <a:latin typeface="DM Sans"/>
              </a:rPr>
              <a:t>Two payment flows coexist — the right path is what makes this a DApp</a:t>
            </a:r>
          </a:p>
        </p:txBody>
      </p:sp>
      <p:sp>
        <p:nvSpPr>
          <p:cNvPr id="6" name="Rounded Rectangle 5"/>
          <p:cNvSpPr/>
          <p:nvPr/>
        </p:nvSpPr>
        <p:spPr>
          <a:xfrm>
            <a:off x="762000" y="1905000"/>
            <a:ext cx="5207000" cy="4318000"/>
          </a:xfrm>
          <a:prstGeom prst="roundRect">
            <a:avLst>
              <a:gd name="adj" fmla="val 3000"/>
            </a:avLst>
          </a:prstGeom>
          <a:solidFill>
            <a:srgbClr val="F5F7FA"/>
          </a:solidFill>
          <a:ln w="25400">
            <a:solidFill>
              <a:srgbClr val="BB8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2000" y="1905000"/>
            <a:ext cx="5207000" cy="635000"/>
          </a:xfrm>
          <a:prstGeom prst="roundRect">
            <a:avLst>
              <a:gd name="adj" fmla="val 8000"/>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032000"/>
            <a:ext cx="4699000" cy="254000"/>
          </a:xfrm>
          <a:prstGeom prst="rect">
            <a:avLst/>
          </a:prstGeom>
          <a:noFill/>
        </p:spPr>
        <p:txBody>
          <a:bodyPr wrap="square" lIns="0" rIns="0" tIns="0" bIns="0" anchor="t">
            <a:spAutoFit/>
          </a:bodyPr>
          <a:lstStyle/>
          <a:p>
            <a:pPr algn="l">
              <a:lnSpc>
                <a:spcPct val="115000"/>
              </a:lnSpc>
            </a:pPr>
            <a:r>
              <a:rPr sz="1700" b="1" i="0">
                <a:solidFill>
                  <a:srgbClr val="F9FAFB"/>
                </a:solidFill>
                <a:latin typeface="DM Sans"/>
              </a:rPr>
              <a:t>Backend-Mediated</a:t>
            </a:r>
          </a:p>
        </p:txBody>
      </p:sp>
      <p:sp>
        <p:nvSpPr>
          <p:cNvPr id="9" name="Rounded Rectangle 8"/>
          <p:cNvSpPr/>
          <p:nvPr/>
        </p:nvSpPr>
        <p:spPr>
          <a:xfrm>
            <a:off x="1016000" y="2298700"/>
            <a:ext cx="1320800" cy="190500"/>
          </a:xfrm>
          <a:prstGeom prst="roundRect">
            <a:avLst>
              <a:gd name="adj" fmla="val 50000"/>
            </a:avLst>
          </a:prstGeom>
          <a:solidFill>
            <a:srgbClr val="F3E3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2324100"/>
            <a:ext cx="1320800" cy="165100"/>
          </a:xfrm>
          <a:prstGeom prst="rect">
            <a:avLst/>
          </a:prstGeom>
          <a:noFill/>
        </p:spPr>
        <p:txBody>
          <a:bodyPr wrap="square" lIns="0" rIns="0" tIns="0" bIns="0" anchor="t">
            <a:spAutoFit/>
          </a:bodyPr>
          <a:lstStyle/>
          <a:p>
            <a:pPr algn="ctr">
              <a:lnSpc>
                <a:spcPct val="115000"/>
              </a:lnSpc>
            </a:pPr>
            <a:r>
              <a:rPr sz="1000" b="1" i="0" spc="200">
                <a:solidFill>
                  <a:srgbClr val="BB8520"/>
                </a:solidFill>
                <a:latin typeface="DM Sans"/>
              </a:rPr>
              <a:t>TRUSTS BACKEND</a:t>
            </a:r>
          </a:p>
        </p:txBody>
      </p:sp>
      <p:sp>
        <p:nvSpPr>
          <p:cNvPr id="11" name="Oval 10"/>
          <p:cNvSpPr/>
          <p:nvPr/>
        </p:nvSpPr>
        <p:spPr>
          <a:xfrm>
            <a:off x="1016000" y="2768600"/>
            <a:ext cx="254000" cy="254000"/>
          </a:xfrm>
          <a:prstGeom prst="ellipse">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1</a:t>
            </a:r>
          </a:p>
        </p:txBody>
      </p:sp>
      <p:sp>
        <p:nvSpPr>
          <p:cNvPr id="12" name="TextBox 11"/>
          <p:cNvSpPr txBox="1"/>
          <p:nvPr/>
        </p:nvSpPr>
        <p:spPr>
          <a:xfrm>
            <a:off x="1397000" y="27305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Patient clicks 'Pay'</a:t>
            </a:r>
          </a:p>
        </p:txBody>
      </p:sp>
      <p:sp>
        <p:nvSpPr>
          <p:cNvPr id="13" name="TextBox 12"/>
          <p:cNvSpPr txBox="1"/>
          <p:nvPr/>
        </p:nvSpPr>
        <p:spPr>
          <a:xfrm>
            <a:off x="1397000" y="29591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REST call to /api/bills/:id/pay</a:t>
            </a:r>
          </a:p>
        </p:txBody>
      </p:sp>
      <p:sp>
        <p:nvSpPr>
          <p:cNvPr id="14" name="Oval 13"/>
          <p:cNvSpPr/>
          <p:nvPr/>
        </p:nvSpPr>
        <p:spPr>
          <a:xfrm>
            <a:off x="1016000" y="3289300"/>
            <a:ext cx="254000" cy="254000"/>
          </a:xfrm>
          <a:prstGeom prst="ellipse">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2</a:t>
            </a:r>
          </a:p>
        </p:txBody>
      </p:sp>
      <p:sp>
        <p:nvSpPr>
          <p:cNvPr id="15" name="TextBox 14"/>
          <p:cNvSpPr txBox="1"/>
          <p:nvPr/>
        </p:nvSpPr>
        <p:spPr>
          <a:xfrm>
            <a:off x="1397000" y="32512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Express marks bill paid in MongoDB</a:t>
            </a:r>
          </a:p>
        </p:txBody>
      </p:sp>
      <p:sp>
        <p:nvSpPr>
          <p:cNvPr id="16" name="TextBox 15"/>
          <p:cNvSpPr txBox="1"/>
          <p:nvPr/>
        </p:nvSpPr>
        <p:spPr>
          <a:xfrm>
            <a:off x="1397000" y="34798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bill.status = 'paid'</a:t>
            </a:r>
          </a:p>
        </p:txBody>
      </p:sp>
      <p:sp>
        <p:nvSpPr>
          <p:cNvPr id="17" name="Oval 16"/>
          <p:cNvSpPr/>
          <p:nvPr/>
        </p:nvSpPr>
        <p:spPr>
          <a:xfrm>
            <a:off x="1016000" y="3810000"/>
            <a:ext cx="254000" cy="254000"/>
          </a:xfrm>
          <a:prstGeom prst="ellipse">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3</a:t>
            </a:r>
          </a:p>
        </p:txBody>
      </p:sp>
      <p:sp>
        <p:nvSpPr>
          <p:cNvPr id="18" name="TextBox 17"/>
          <p:cNvSpPr txBox="1"/>
          <p:nvPr/>
        </p:nvSpPr>
        <p:spPr>
          <a:xfrm>
            <a:off x="1397000" y="37719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Backend calls logBilling()</a:t>
            </a:r>
          </a:p>
        </p:txBody>
      </p:sp>
      <p:sp>
        <p:nvSpPr>
          <p:cNvPr id="19" name="TextBox 18"/>
          <p:cNvSpPr txBox="1"/>
          <p:nvPr/>
        </p:nvSpPr>
        <p:spPr>
          <a:xfrm>
            <a:off x="1397000" y="40005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web3.send from DEPLOYER_ACCOUNT</a:t>
            </a:r>
          </a:p>
        </p:txBody>
      </p:sp>
      <p:sp>
        <p:nvSpPr>
          <p:cNvPr id="20" name="Oval 19"/>
          <p:cNvSpPr/>
          <p:nvPr/>
        </p:nvSpPr>
        <p:spPr>
          <a:xfrm>
            <a:off x="1016000" y="4330700"/>
            <a:ext cx="254000" cy="254000"/>
          </a:xfrm>
          <a:prstGeom prst="ellipse">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4</a:t>
            </a:r>
          </a:p>
        </p:txBody>
      </p:sp>
      <p:sp>
        <p:nvSpPr>
          <p:cNvPr id="21" name="TextBox 20"/>
          <p:cNvSpPr txBox="1"/>
          <p:nvPr/>
        </p:nvSpPr>
        <p:spPr>
          <a:xfrm>
            <a:off x="1397000" y="42926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Tx hash stored on Mongo doc</a:t>
            </a:r>
          </a:p>
        </p:txBody>
      </p:sp>
      <p:sp>
        <p:nvSpPr>
          <p:cNvPr id="22" name="TextBox 21"/>
          <p:cNvSpPr txBox="1"/>
          <p:nvPr/>
        </p:nvSpPr>
        <p:spPr>
          <a:xfrm>
            <a:off x="1397000" y="45212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blockchainStatus = 'logged'</a:t>
            </a:r>
          </a:p>
        </p:txBody>
      </p:sp>
      <p:sp>
        <p:nvSpPr>
          <p:cNvPr id="23" name="Oval 22"/>
          <p:cNvSpPr/>
          <p:nvPr/>
        </p:nvSpPr>
        <p:spPr>
          <a:xfrm>
            <a:off x="1016000" y="4851400"/>
            <a:ext cx="254000" cy="254000"/>
          </a:xfrm>
          <a:prstGeom prst="ellipse">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5</a:t>
            </a:r>
          </a:p>
        </p:txBody>
      </p:sp>
      <p:sp>
        <p:nvSpPr>
          <p:cNvPr id="24" name="TextBox 23"/>
          <p:cNvSpPr txBox="1"/>
          <p:nvPr/>
        </p:nvSpPr>
        <p:spPr>
          <a:xfrm>
            <a:off x="1397000" y="48133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Audit middleware writes AuditLog</a:t>
            </a:r>
          </a:p>
        </p:txBody>
      </p:sp>
      <p:sp>
        <p:nvSpPr>
          <p:cNvPr id="25" name="TextBox 24"/>
          <p:cNvSpPr txBox="1"/>
          <p:nvPr/>
        </p:nvSpPr>
        <p:spPr>
          <a:xfrm>
            <a:off x="1397000" y="50419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who/what/when — off-chain</a:t>
            </a:r>
          </a:p>
        </p:txBody>
      </p:sp>
      <p:sp>
        <p:nvSpPr>
          <p:cNvPr id="26" name="Rounded Rectangle 25"/>
          <p:cNvSpPr/>
          <p:nvPr/>
        </p:nvSpPr>
        <p:spPr>
          <a:xfrm>
            <a:off x="6223000" y="1905000"/>
            <a:ext cx="5207000" cy="4318000"/>
          </a:xfrm>
          <a:prstGeom prst="roundRect">
            <a:avLst>
              <a:gd name="adj" fmla="val 3000"/>
            </a:avLst>
          </a:prstGeom>
          <a:solidFill>
            <a:srgbClr val="F5F7FA"/>
          </a:solidFill>
          <a:ln w="25400">
            <a:solidFill>
              <a:srgbClr val="0AA6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23000" y="1905000"/>
            <a:ext cx="5207000" cy="635000"/>
          </a:xfrm>
          <a:prstGeom prst="roundRect">
            <a:avLst>
              <a:gd name="adj" fmla="val 8000"/>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7000" y="2032000"/>
            <a:ext cx="4699000" cy="254000"/>
          </a:xfrm>
          <a:prstGeom prst="rect">
            <a:avLst/>
          </a:prstGeom>
          <a:noFill/>
        </p:spPr>
        <p:txBody>
          <a:bodyPr wrap="square" lIns="0" rIns="0" tIns="0" bIns="0" anchor="t">
            <a:spAutoFit/>
          </a:bodyPr>
          <a:lstStyle/>
          <a:p>
            <a:pPr algn="l">
              <a:lnSpc>
                <a:spcPct val="115000"/>
              </a:lnSpc>
            </a:pPr>
            <a:r>
              <a:rPr sz="1700" b="1" i="0">
                <a:solidFill>
                  <a:srgbClr val="F9FAFB"/>
                </a:solidFill>
                <a:latin typeface="DM Sans"/>
              </a:rPr>
              <a:t>MetaMask On-Chain</a:t>
            </a:r>
          </a:p>
        </p:txBody>
      </p:sp>
      <p:sp>
        <p:nvSpPr>
          <p:cNvPr id="29" name="Rounded Rectangle 28"/>
          <p:cNvSpPr/>
          <p:nvPr/>
        </p:nvSpPr>
        <p:spPr>
          <a:xfrm>
            <a:off x="6477000" y="2298700"/>
            <a:ext cx="1473200" cy="190500"/>
          </a:xfrm>
          <a:prstGeom prst="roundRect">
            <a:avLst>
              <a:gd name="adj" fmla="val 50000"/>
            </a:avLst>
          </a:prstGeom>
          <a:solidFill>
            <a:srgbClr val="C3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0" y="2324100"/>
            <a:ext cx="1473200" cy="165100"/>
          </a:xfrm>
          <a:prstGeom prst="rect">
            <a:avLst/>
          </a:prstGeom>
          <a:noFill/>
        </p:spPr>
        <p:txBody>
          <a:bodyPr wrap="square" lIns="0" rIns="0" tIns="0" bIns="0" anchor="t">
            <a:spAutoFit/>
          </a:bodyPr>
          <a:lstStyle/>
          <a:p>
            <a:pPr algn="ctr">
              <a:lnSpc>
                <a:spcPct val="115000"/>
              </a:lnSpc>
            </a:pPr>
            <a:r>
              <a:rPr sz="1000" b="1" i="0" spc="200">
                <a:solidFill>
                  <a:srgbClr val="0AA693"/>
                </a:solidFill>
                <a:latin typeface="DM Sans"/>
              </a:rPr>
              <a:t>TRUSTLESS · DApp</a:t>
            </a:r>
          </a:p>
        </p:txBody>
      </p:sp>
      <p:sp>
        <p:nvSpPr>
          <p:cNvPr id="31" name="Oval 30"/>
          <p:cNvSpPr/>
          <p:nvPr/>
        </p:nvSpPr>
        <p:spPr>
          <a:xfrm>
            <a:off x="6477000" y="2768600"/>
            <a:ext cx="254000" cy="254000"/>
          </a:xfrm>
          <a:prstGeom prst="ellipse">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1</a:t>
            </a:r>
          </a:p>
        </p:txBody>
      </p:sp>
      <p:sp>
        <p:nvSpPr>
          <p:cNvPr id="32" name="TextBox 31"/>
          <p:cNvSpPr txBox="1"/>
          <p:nvPr/>
        </p:nvSpPr>
        <p:spPr>
          <a:xfrm>
            <a:off x="6858000" y="27305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Patient clicks 'Pay with MetaMask'</a:t>
            </a:r>
          </a:p>
        </p:txBody>
      </p:sp>
      <p:sp>
        <p:nvSpPr>
          <p:cNvPr id="33" name="TextBox 32"/>
          <p:cNvSpPr txBox="1"/>
          <p:nvPr/>
        </p:nvSpPr>
        <p:spPr>
          <a:xfrm>
            <a:off x="6858000" y="29591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window.ethereum.request</a:t>
            </a:r>
          </a:p>
        </p:txBody>
      </p:sp>
      <p:sp>
        <p:nvSpPr>
          <p:cNvPr id="34" name="Oval 33"/>
          <p:cNvSpPr/>
          <p:nvPr/>
        </p:nvSpPr>
        <p:spPr>
          <a:xfrm>
            <a:off x="6477000" y="3289300"/>
            <a:ext cx="254000" cy="254000"/>
          </a:xfrm>
          <a:prstGeom prst="ellipse">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2</a:t>
            </a:r>
          </a:p>
        </p:txBody>
      </p:sp>
      <p:sp>
        <p:nvSpPr>
          <p:cNvPr id="35" name="TextBox 34"/>
          <p:cNvSpPr txBox="1"/>
          <p:nvPr/>
        </p:nvSpPr>
        <p:spPr>
          <a:xfrm>
            <a:off x="6858000" y="32512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MetaMask prompts to sign tx</a:t>
            </a:r>
          </a:p>
        </p:txBody>
      </p:sp>
      <p:sp>
        <p:nvSpPr>
          <p:cNvPr id="36" name="TextBox 35"/>
          <p:cNvSpPr txBox="1"/>
          <p:nvPr/>
        </p:nvSpPr>
        <p:spPr>
          <a:xfrm>
            <a:off x="6858000" y="34798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gas estimate shown, patient approves</a:t>
            </a:r>
          </a:p>
        </p:txBody>
      </p:sp>
      <p:sp>
        <p:nvSpPr>
          <p:cNvPr id="37" name="Oval 36"/>
          <p:cNvSpPr/>
          <p:nvPr/>
        </p:nvSpPr>
        <p:spPr>
          <a:xfrm>
            <a:off x="6477000" y="3810000"/>
            <a:ext cx="254000" cy="254000"/>
          </a:xfrm>
          <a:prstGeom prst="ellipse">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3</a:t>
            </a:r>
          </a:p>
        </p:txBody>
      </p:sp>
      <p:sp>
        <p:nvSpPr>
          <p:cNvPr id="38" name="TextBox 37"/>
          <p:cNvSpPr txBox="1"/>
          <p:nvPr/>
        </p:nvSpPr>
        <p:spPr>
          <a:xfrm>
            <a:off x="6858000" y="37719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payBillOnChain() executes in EVM</a:t>
            </a:r>
          </a:p>
        </p:txBody>
      </p:sp>
      <p:sp>
        <p:nvSpPr>
          <p:cNvPr id="39" name="TextBox 38"/>
          <p:cNvSpPr txBox="1"/>
          <p:nvPr/>
        </p:nvSpPr>
        <p:spPr>
          <a:xfrm>
            <a:off x="6858000" y="40005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ETH flows patient → contract → owner</a:t>
            </a:r>
          </a:p>
        </p:txBody>
      </p:sp>
      <p:sp>
        <p:nvSpPr>
          <p:cNvPr id="40" name="Oval 39"/>
          <p:cNvSpPr/>
          <p:nvPr/>
        </p:nvSpPr>
        <p:spPr>
          <a:xfrm>
            <a:off x="6477000" y="4330700"/>
            <a:ext cx="254000" cy="254000"/>
          </a:xfrm>
          <a:prstGeom prst="ellipse">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4</a:t>
            </a:r>
          </a:p>
        </p:txBody>
      </p:sp>
      <p:sp>
        <p:nvSpPr>
          <p:cNvPr id="41" name="TextBox 40"/>
          <p:cNvSpPr txBox="1"/>
          <p:nvPr/>
        </p:nvSpPr>
        <p:spPr>
          <a:xfrm>
            <a:off x="6858000" y="42926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Contract flips status, emits event</a:t>
            </a:r>
          </a:p>
        </p:txBody>
      </p:sp>
      <p:sp>
        <p:nvSpPr>
          <p:cNvPr id="42" name="TextBox 41"/>
          <p:cNvSpPr txBox="1"/>
          <p:nvPr/>
        </p:nvSpPr>
        <p:spPr>
          <a:xfrm>
            <a:off x="6858000" y="45212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PaymentReceived + BillingLogged</a:t>
            </a:r>
          </a:p>
        </p:txBody>
      </p:sp>
      <p:sp>
        <p:nvSpPr>
          <p:cNvPr id="43" name="Oval 42"/>
          <p:cNvSpPr/>
          <p:nvPr/>
        </p:nvSpPr>
        <p:spPr>
          <a:xfrm>
            <a:off x="6477000" y="4851400"/>
            <a:ext cx="254000" cy="254000"/>
          </a:xfrm>
          <a:prstGeom prst="ellipse">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9FAFB"/>
                </a:solidFill>
                <a:latin typeface="DM Sans"/>
              </a:rPr>
              <a:t>5</a:t>
            </a:r>
          </a:p>
        </p:txBody>
      </p:sp>
      <p:sp>
        <p:nvSpPr>
          <p:cNvPr id="44" name="TextBox 43"/>
          <p:cNvSpPr txBox="1"/>
          <p:nvPr/>
        </p:nvSpPr>
        <p:spPr>
          <a:xfrm>
            <a:off x="6858000" y="4813300"/>
            <a:ext cx="4318000" cy="228600"/>
          </a:xfrm>
          <a:prstGeom prst="rect">
            <a:avLst/>
          </a:prstGeom>
          <a:noFill/>
        </p:spPr>
        <p:txBody>
          <a:bodyPr wrap="square" lIns="0" rIns="0" tIns="0" bIns="0" anchor="t">
            <a:spAutoFit/>
          </a:bodyPr>
          <a:lstStyle/>
          <a:p>
            <a:pPr algn="l">
              <a:lnSpc>
                <a:spcPct val="115000"/>
              </a:lnSpc>
            </a:pPr>
            <a:r>
              <a:rPr sz="1300" b="1" i="0">
                <a:solidFill>
                  <a:srgbClr val="0D1B2A"/>
                </a:solidFill>
                <a:latin typeface="DM Sans"/>
              </a:rPr>
              <a:t>Backend never holds patient funds</a:t>
            </a:r>
          </a:p>
        </p:txBody>
      </p:sp>
      <p:sp>
        <p:nvSpPr>
          <p:cNvPr id="45" name="TextBox 44"/>
          <p:cNvSpPr txBox="1"/>
          <p:nvPr/>
        </p:nvSpPr>
        <p:spPr>
          <a:xfrm>
            <a:off x="6858000" y="5041900"/>
            <a:ext cx="4318000" cy="203200"/>
          </a:xfrm>
          <a:prstGeom prst="rect">
            <a:avLst/>
          </a:prstGeom>
          <a:noFill/>
        </p:spPr>
        <p:txBody>
          <a:bodyPr wrap="square" lIns="0" rIns="0" tIns="0" bIns="0" anchor="t">
            <a:spAutoFit/>
          </a:bodyPr>
          <a:lstStyle/>
          <a:p>
            <a:pPr algn="l">
              <a:lnSpc>
                <a:spcPct val="130000"/>
              </a:lnSpc>
            </a:pPr>
            <a:r>
              <a:rPr sz="1100" b="0" i="0">
                <a:solidFill>
                  <a:srgbClr val="5A6A7E"/>
                </a:solidFill>
                <a:latin typeface="DM Sans"/>
              </a:rPr>
              <a:t>attack surface removed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07 — FEATURES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Role-Based Features</a:t>
            </a:r>
          </a:p>
        </p:txBody>
      </p:sp>
      <p:sp>
        <p:nvSpPr>
          <p:cNvPr id="5" name="Rounded Rectangle 4"/>
          <p:cNvSpPr/>
          <p:nvPr/>
        </p:nvSpPr>
        <p:spPr>
          <a:xfrm>
            <a:off x="762000" y="1714500"/>
            <a:ext cx="10668000" cy="4572000"/>
          </a:xfrm>
          <a:prstGeom prst="roundRect">
            <a:avLst>
              <a:gd name="adj" fmla="val 1500"/>
            </a:avLst>
          </a:prstGeom>
          <a:no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2000" y="1714500"/>
            <a:ext cx="10668000" cy="508000"/>
          </a:xfrm>
          <a:prstGeom prst="roundRect">
            <a:avLst>
              <a:gd name="adj" fmla="val 15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75000" y="1803400"/>
            <a:ext cx="1968500" cy="215900"/>
          </a:xfrm>
          <a:prstGeom prst="rect">
            <a:avLst/>
          </a:prstGeom>
          <a:noFill/>
        </p:spPr>
        <p:txBody>
          <a:bodyPr wrap="square" lIns="0" rIns="0" tIns="0" bIns="0" anchor="t">
            <a:spAutoFit/>
          </a:bodyPr>
          <a:lstStyle/>
          <a:p>
            <a:pPr algn="ctr">
              <a:lnSpc>
                <a:spcPct val="115000"/>
              </a:lnSpc>
            </a:pPr>
            <a:r>
              <a:rPr sz="1400" b="0" i="0">
                <a:solidFill>
                  <a:srgbClr val="6CB8DA"/>
                </a:solidFill>
                <a:latin typeface="DM Sans"/>
              </a:rPr>
              <a:t>★</a:t>
            </a:r>
          </a:p>
        </p:txBody>
      </p:sp>
      <p:sp>
        <p:nvSpPr>
          <p:cNvPr id="8" name="TextBox 7"/>
          <p:cNvSpPr txBox="1"/>
          <p:nvPr/>
        </p:nvSpPr>
        <p:spPr>
          <a:xfrm>
            <a:off x="3175000" y="2006600"/>
            <a:ext cx="1968500" cy="215900"/>
          </a:xfrm>
          <a:prstGeom prst="rect">
            <a:avLst/>
          </a:prstGeom>
          <a:noFill/>
        </p:spPr>
        <p:txBody>
          <a:bodyPr wrap="square" lIns="0" rIns="0" tIns="0" bIns="0" anchor="t">
            <a:spAutoFit/>
          </a:bodyPr>
          <a:lstStyle/>
          <a:p>
            <a:pPr algn="ctr">
              <a:lnSpc>
                <a:spcPct val="115000"/>
              </a:lnSpc>
            </a:pPr>
            <a:r>
              <a:rPr sz="1100" b="1" i="0" spc="200">
                <a:solidFill>
                  <a:srgbClr val="6CB8DA"/>
                </a:solidFill>
                <a:latin typeface="DM Sans"/>
              </a:rPr>
              <a:t>ADMIN</a:t>
            </a:r>
          </a:p>
        </p:txBody>
      </p:sp>
      <p:sp>
        <p:nvSpPr>
          <p:cNvPr id="9" name="TextBox 8"/>
          <p:cNvSpPr txBox="1"/>
          <p:nvPr/>
        </p:nvSpPr>
        <p:spPr>
          <a:xfrm>
            <a:off x="5143500" y="1803400"/>
            <a:ext cx="2095500" cy="215900"/>
          </a:xfrm>
          <a:prstGeom prst="rect">
            <a:avLst/>
          </a:prstGeom>
          <a:noFill/>
        </p:spPr>
        <p:txBody>
          <a:bodyPr wrap="square" lIns="0" rIns="0" tIns="0" bIns="0" anchor="t">
            <a:spAutoFit/>
          </a:bodyPr>
          <a:lstStyle/>
          <a:p>
            <a:pPr algn="ctr">
              <a:lnSpc>
                <a:spcPct val="115000"/>
              </a:lnSpc>
            </a:pPr>
            <a:r>
              <a:rPr sz="1400" b="0" i="0">
                <a:solidFill>
                  <a:srgbClr val="7AD2C0"/>
                </a:solidFill>
                <a:latin typeface="DM Sans"/>
              </a:rPr>
              <a:t>⚕</a:t>
            </a:r>
          </a:p>
        </p:txBody>
      </p:sp>
      <p:sp>
        <p:nvSpPr>
          <p:cNvPr id="10" name="TextBox 9"/>
          <p:cNvSpPr txBox="1"/>
          <p:nvPr/>
        </p:nvSpPr>
        <p:spPr>
          <a:xfrm>
            <a:off x="5143500" y="2006600"/>
            <a:ext cx="2095500" cy="215900"/>
          </a:xfrm>
          <a:prstGeom prst="rect">
            <a:avLst/>
          </a:prstGeom>
          <a:noFill/>
        </p:spPr>
        <p:txBody>
          <a:bodyPr wrap="square" lIns="0" rIns="0" tIns="0" bIns="0" anchor="t">
            <a:spAutoFit/>
          </a:bodyPr>
          <a:lstStyle/>
          <a:p>
            <a:pPr algn="ctr">
              <a:lnSpc>
                <a:spcPct val="115000"/>
              </a:lnSpc>
            </a:pPr>
            <a:r>
              <a:rPr sz="1100" b="1" i="0" spc="200">
                <a:solidFill>
                  <a:srgbClr val="7AD2C0"/>
                </a:solidFill>
                <a:latin typeface="DM Sans"/>
              </a:rPr>
              <a:t>DOCTOR</a:t>
            </a:r>
          </a:p>
        </p:txBody>
      </p:sp>
      <p:sp>
        <p:nvSpPr>
          <p:cNvPr id="11" name="TextBox 10"/>
          <p:cNvSpPr txBox="1"/>
          <p:nvPr/>
        </p:nvSpPr>
        <p:spPr>
          <a:xfrm>
            <a:off x="7239000" y="1803400"/>
            <a:ext cx="2095500" cy="215900"/>
          </a:xfrm>
          <a:prstGeom prst="rect">
            <a:avLst/>
          </a:prstGeom>
          <a:noFill/>
        </p:spPr>
        <p:txBody>
          <a:bodyPr wrap="square" lIns="0" rIns="0" tIns="0" bIns="0" anchor="t">
            <a:spAutoFit/>
          </a:bodyPr>
          <a:lstStyle/>
          <a:p>
            <a:pPr algn="ctr">
              <a:lnSpc>
                <a:spcPct val="115000"/>
              </a:lnSpc>
            </a:pPr>
            <a:r>
              <a:rPr sz="1400" b="0" i="0">
                <a:solidFill>
                  <a:srgbClr val="D9A04A"/>
                </a:solidFill>
                <a:latin typeface="DM Sans"/>
              </a:rPr>
              <a:t>♥</a:t>
            </a:r>
          </a:p>
        </p:txBody>
      </p:sp>
      <p:sp>
        <p:nvSpPr>
          <p:cNvPr id="12" name="TextBox 11"/>
          <p:cNvSpPr txBox="1"/>
          <p:nvPr/>
        </p:nvSpPr>
        <p:spPr>
          <a:xfrm>
            <a:off x="7239000" y="2006600"/>
            <a:ext cx="2095500" cy="215900"/>
          </a:xfrm>
          <a:prstGeom prst="rect">
            <a:avLst/>
          </a:prstGeom>
          <a:noFill/>
        </p:spPr>
        <p:txBody>
          <a:bodyPr wrap="square" lIns="0" rIns="0" tIns="0" bIns="0" anchor="t">
            <a:spAutoFit/>
          </a:bodyPr>
          <a:lstStyle/>
          <a:p>
            <a:pPr algn="ctr">
              <a:lnSpc>
                <a:spcPct val="115000"/>
              </a:lnSpc>
            </a:pPr>
            <a:r>
              <a:rPr sz="1100" b="1" i="0" spc="200">
                <a:solidFill>
                  <a:srgbClr val="D9A04A"/>
                </a:solidFill>
                <a:latin typeface="DM Sans"/>
              </a:rPr>
              <a:t>PATIENT</a:t>
            </a:r>
          </a:p>
        </p:txBody>
      </p:sp>
      <p:sp>
        <p:nvSpPr>
          <p:cNvPr id="13" name="TextBox 12"/>
          <p:cNvSpPr txBox="1"/>
          <p:nvPr/>
        </p:nvSpPr>
        <p:spPr>
          <a:xfrm>
            <a:off x="9334500" y="1803400"/>
            <a:ext cx="2095500" cy="215900"/>
          </a:xfrm>
          <a:prstGeom prst="rect">
            <a:avLst/>
          </a:prstGeom>
          <a:noFill/>
        </p:spPr>
        <p:txBody>
          <a:bodyPr wrap="square" lIns="0" rIns="0" tIns="0" bIns="0" anchor="t">
            <a:spAutoFit/>
          </a:bodyPr>
          <a:lstStyle/>
          <a:p>
            <a:pPr algn="ctr">
              <a:lnSpc>
                <a:spcPct val="115000"/>
              </a:lnSpc>
            </a:pPr>
            <a:r>
              <a:rPr sz="1400" b="0" i="0">
                <a:solidFill>
                  <a:srgbClr val="9AA3B0"/>
                </a:solidFill>
                <a:latin typeface="DM Sans"/>
              </a:rPr>
              <a:t>◈</a:t>
            </a:r>
          </a:p>
        </p:txBody>
      </p:sp>
      <p:sp>
        <p:nvSpPr>
          <p:cNvPr id="14" name="TextBox 13"/>
          <p:cNvSpPr txBox="1"/>
          <p:nvPr/>
        </p:nvSpPr>
        <p:spPr>
          <a:xfrm>
            <a:off x="9334500" y="2006600"/>
            <a:ext cx="2095500" cy="215900"/>
          </a:xfrm>
          <a:prstGeom prst="rect">
            <a:avLst/>
          </a:prstGeom>
          <a:noFill/>
        </p:spPr>
        <p:txBody>
          <a:bodyPr wrap="square" lIns="0" rIns="0" tIns="0" bIns="0" anchor="t">
            <a:spAutoFit/>
          </a:bodyPr>
          <a:lstStyle/>
          <a:p>
            <a:pPr algn="ctr">
              <a:lnSpc>
                <a:spcPct val="115000"/>
              </a:lnSpc>
            </a:pPr>
            <a:r>
              <a:rPr sz="1100" b="1" i="0" spc="200">
                <a:solidFill>
                  <a:srgbClr val="9AA3B0"/>
                </a:solidFill>
                <a:latin typeface="DM Sans"/>
              </a:rPr>
              <a:t>RECEPTIONIST</a:t>
            </a:r>
          </a:p>
        </p:txBody>
      </p:sp>
      <p:sp>
        <p:nvSpPr>
          <p:cNvPr id="15" name="TextBox 14"/>
          <p:cNvSpPr txBox="1"/>
          <p:nvPr/>
        </p:nvSpPr>
        <p:spPr>
          <a:xfrm>
            <a:off x="889000" y="2222500"/>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Analytics Dashboard</a:t>
            </a:r>
          </a:p>
        </p:txBody>
      </p:sp>
      <p:sp>
        <p:nvSpPr>
          <p:cNvPr id="16" name="TextBox 15"/>
          <p:cNvSpPr txBox="1"/>
          <p:nvPr/>
        </p:nvSpPr>
        <p:spPr>
          <a:xfrm>
            <a:off x="3175000" y="2222500"/>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17" name="TextBox 16"/>
          <p:cNvSpPr txBox="1"/>
          <p:nvPr/>
        </p:nvSpPr>
        <p:spPr>
          <a:xfrm>
            <a:off x="5143500" y="2222500"/>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18" name="TextBox 17"/>
          <p:cNvSpPr txBox="1"/>
          <p:nvPr/>
        </p:nvSpPr>
        <p:spPr>
          <a:xfrm>
            <a:off x="7239000" y="2222500"/>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19" name="TextBox 18"/>
          <p:cNvSpPr txBox="1"/>
          <p:nvPr/>
        </p:nvSpPr>
        <p:spPr>
          <a:xfrm>
            <a:off x="9334500" y="2222500"/>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20" name="Rectangle 19"/>
          <p:cNvSpPr/>
          <p:nvPr/>
        </p:nvSpPr>
        <p:spPr>
          <a:xfrm>
            <a:off x="762000" y="2674055"/>
            <a:ext cx="10668000" cy="45155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2000" y="2674055"/>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000" y="2674055"/>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Blockchain Verification</a:t>
            </a:r>
          </a:p>
        </p:txBody>
      </p:sp>
      <p:sp>
        <p:nvSpPr>
          <p:cNvPr id="23" name="TextBox 22"/>
          <p:cNvSpPr txBox="1"/>
          <p:nvPr/>
        </p:nvSpPr>
        <p:spPr>
          <a:xfrm>
            <a:off x="3175000" y="2674055"/>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24" name="TextBox 23"/>
          <p:cNvSpPr txBox="1"/>
          <p:nvPr/>
        </p:nvSpPr>
        <p:spPr>
          <a:xfrm>
            <a:off x="5143500" y="2674055"/>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25" name="TextBox 24"/>
          <p:cNvSpPr txBox="1"/>
          <p:nvPr/>
        </p:nvSpPr>
        <p:spPr>
          <a:xfrm>
            <a:off x="7239000" y="2674055"/>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26" name="TextBox 25"/>
          <p:cNvSpPr txBox="1"/>
          <p:nvPr/>
        </p:nvSpPr>
        <p:spPr>
          <a:xfrm>
            <a:off x="9334500" y="2674055"/>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27" name="Rectangle 26"/>
          <p:cNvSpPr/>
          <p:nvPr/>
        </p:nvSpPr>
        <p:spPr>
          <a:xfrm>
            <a:off x="762000" y="3125611"/>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000" y="3125611"/>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Manage Appointments</a:t>
            </a:r>
          </a:p>
        </p:txBody>
      </p:sp>
      <p:sp>
        <p:nvSpPr>
          <p:cNvPr id="29" name="TextBox 28"/>
          <p:cNvSpPr txBox="1"/>
          <p:nvPr/>
        </p:nvSpPr>
        <p:spPr>
          <a:xfrm>
            <a:off x="3175000" y="3125611"/>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all</a:t>
            </a:r>
          </a:p>
        </p:txBody>
      </p:sp>
      <p:sp>
        <p:nvSpPr>
          <p:cNvPr id="30" name="TextBox 29"/>
          <p:cNvSpPr txBox="1"/>
          <p:nvPr/>
        </p:nvSpPr>
        <p:spPr>
          <a:xfrm>
            <a:off x="5143500" y="3125611"/>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own</a:t>
            </a:r>
          </a:p>
        </p:txBody>
      </p:sp>
      <p:sp>
        <p:nvSpPr>
          <p:cNvPr id="31" name="TextBox 30"/>
          <p:cNvSpPr txBox="1"/>
          <p:nvPr/>
        </p:nvSpPr>
        <p:spPr>
          <a:xfrm>
            <a:off x="7239000" y="3125611"/>
            <a:ext cx="2095500" cy="451555"/>
          </a:xfrm>
          <a:prstGeom prst="rect">
            <a:avLst/>
          </a:prstGeom>
          <a:noFill/>
        </p:spPr>
        <p:txBody>
          <a:bodyPr wrap="square" lIns="0" rIns="0" tIns="0" bIns="0" anchor="ctr">
            <a:spAutoFit/>
          </a:bodyPr>
          <a:lstStyle/>
          <a:p>
            <a:pPr algn="ctr">
              <a:lnSpc>
                <a:spcPct val="115000"/>
              </a:lnSpc>
            </a:pPr>
            <a:r>
              <a:rPr sz="1200" b="0" i="0">
                <a:solidFill>
                  <a:srgbClr val="BB8520"/>
                </a:solidFill>
                <a:latin typeface="DM Sans"/>
              </a:rPr>
              <a:t>Book/Cancel</a:t>
            </a:r>
          </a:p>
        </p:txBody>
      </p:sp>
      <p:sp>
        <p:nvSpPr>
          <p:cNvPr id="32" name="TextBox 31"/>
          <p:cNvSpPr txBox="1"/>
          <p:nvPr/>
        </p:nvSpPr>
        <p:spPr>
          <a:xfrm>
            <a:off x="9334500" y="3125611"/>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33" name="Rectangle 32"/>
          <p:cNvSpPr/>
          <p:nvPr/>
        </p:nvSpPr>
        <p:spPr>
          <a:xfrm>
            <a:off x="762000" y="3577166"/>
            <a:ext cx="10668000" cy="45155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2000" y="3577166"/>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9000" y="3577166"/>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Prescriptions</a:t>
            </a:r>
          </a:p>
        </p:txBody>
      </p:sp>
      <p:sp>
        <p:nvSpPr>
          <p:cNvPr id="36" name="TextBox 35"/>
          <p:cNvSpPr txBox="1"/>
          <p:nvPr/>
        </p:nvSpPr>
        <p:spPr>
          <a:xfrm>
            <a:off x="3175000" y="3577166"/>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view all</a:t>
            </a:r>
          </a:p>
        </p:txBody>
      </p:sp>
      <p:sp>
        <p:nvSpPr>
          <p:cNvPr id="37" name="TextBox 36"/>
          <p:cNvSpPr txBox="1"/>
          <p:nvPr/>
        </p:nvSpPr>
        <p:spPr>
          <a:xfrm>
            <a:off x="5143500" y="3577166"/>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create</a:t>
            </a:r>
          </a:p>
        </p:txBody>
      </p:sp>
      <p:sp>
        <p:nvSpPr>
          <p:cNvPr id="38" name="TextBox 37"/>
          <p:cNvSpPr txBox="1"/>
          <p:nvPr/>
        </p:nvSpPr>
        <p:spPr>
          <a:xfrm>
            <a:off x="7239000" y="3577166"/>
            <a:ext cx="2095500" cy="451555"/>
          </a:xfrm>
          <a:prstGeom prst="rect">
            <a:avLst/>
          </a:prstGeom>
          <a:noFill/>
        </p:spPr>
        <p:txBody>
          <a:bodyPr wrap="square" lIns="0" rIns="0" tIns="0" bIns="0" anchor="ctr">
            <a:spAutoFit/>
          </a:bodyPr>
          <a:lstStyle/>
          <a:p>
            <a:pPr algn="ctr">
              <a:lnSpc>
                <a:spcPct val="115000"/>
              </a:lnSpc>
            </a:pPr>
            <a:r>
              <a:rPr sz="1200" b="0" i="0">
                <a:solidFill>
                  <a:srgbClr val="BB8520"/>
                </a:solidFill>
                <a:latin typeface="DM Sans"/>
              </a:rPr>
              <a:t>View own</a:t>
            </a:r>
          </a:p>
        </p:txBody>
      </p:sp>
      <p:sp>
        <p:nvSpPr>
          <p:cNvPr id="39" name="TextBox 38"/>
          <p:cNvSpPr txBox="1"/>
          <p:nvPr/>
        </p:nvSpPr>
        <p:spPr>
          <a:xfrm>
            <a:off x="9334500" y="3577166"/>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40" name="Rectangle 39"/>
          <p:cNvSpPr/>
          <p:nvPr/>
        </p:nvSpPr>
        <p:spPr>
          <a:xfrm>
            <a:off x="762000" y="4028722"/>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9000" y="4028722"/>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Billing &amp; Payment</a:t>
            </a:r>
          </a:p>
        </p:txBody>
      </p:sp>
      <p:sp>
        <p:nvSpPr>
          <p:cNvPr id="42" name="TextBox 41"/>
          <p:cNvSpPr txBox="1"/>
          <p:nvPr/>
        </p:nvSpPr>
        <p:spPr>
          <a:xfrm>
            <a:off x="3175000" y="4028722"/>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view all</a:t>
            </a:r>
          </a:p>
        </p:txBody>
      </p:sp>
      <p:sp>
        <p:nvSpPr>
          <p:cNvPr id="43" name="TextBox 42"/>
          <p:cNvSpPr txBox="1"/>
          <p:nvPr/>
        </p:nvSpPr>
        <p:spPr>
          <a:xfrm>
            <a:off x="5143500" y="4028722"/>
            <a:ext cx="2095500" cy="451555"/>
          </a:xfrm>
          <a:prstGeom prst="rect">
            <a:avLst/>
          </a:prstGeom>
          <a:noFill/>
        </p:spPr>
        <p:txBody>
          <a:bodyPr wrap="square" lIns="0" rIns="0" tIns="0" bIns="0" anchor="ctr">
            <a:spAutoFit/>
          </a:bodyPr>
          <a:lstStyle/>
          <a:p>
            <a:pPr algn="ctr">
              <a:lnSpc>
                <a:spcPct val="115000"/>
              </a:lnSpc>
            </a:pPr>
            <a:r>
              <a:rPr sz="1200" b="0" i="0">
                <a:solidFill>
                  <a:srgbClr val="BB8520"/>
                </a:solidFill>
                <a:latin typeface="DM Sans"/>
              </a:rPr>
              <a:t>View own</a:t>
            </a:r>
          </a:p>
        </p:txBody>
      </p:sp>
      <p:sp>
        <p:nvSpPr>
          <p:cNvPr id="44" name="TextBox 43"/>
          <p:cNvSpPr txBox="1"/>
          <p:nvPr/>
        </p:nvSpPr>
        <p:spPr>
          <a:xfrm>
            <a:off x="7239000" y="4028722"/>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pay</a:t>
            </a:r>
          </a:p>
        </p:txBody>
      </p:sp>
      <p:sp>
        <p:nvSpPr>
          <p:cNvPr id="45" name="TextBox 44"/>
          <p:cNvSpPr txBox="1"/>
          <p:nvPr/>
        </p:nvSpPr>
        <p:spPr>
          <a:xfrm>
            <a:off x="9334500" y="4028722"/>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46" name="Rectangle 45"/>
          <p:cNvSpPr/>
          <p:nvPr/>
        </p:nvSpPr>
        <p:spPr>
          <a:xfrm>
            <a:off x="762000" y="4480277"/>
            <a:ext cx="10668000" cy="45155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62000" y="4480277"/>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9000" y="4480277"/>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MetaMask On-Chain Pay</a:t>
            </a:r>
          </a:p>
        </p:txBody>
      </p:sp>
      <p:sp>
        <p:nvSpPr>
          <p:cNvPr id="49" name="TextBox 48"/>
          <p:cNvSpPr txBox="1"/>
          <p:nvPr/>
        </p:nvSpPr>
        <p:spPr>
          <a:xfrm>
            <a:off x="3175000" y="4480277"/>
            <a:ext cx="1968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50" name="TextBox 49"/>
          <p:cNvSpPr txBox="1"/>
          <p:nvPr/>
        </p:nvSpPr>
        <p:spPr>
          <a:xfrm>
            <a:off x="5143500" y="4480277"/>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51" name="TextBox 50"/>
          <p:cNvSpPr txBox="1"/>
          <p:nvPr/>
        </p:nvSpPr>
        <p:spPr>
          <a:xfrm>
            <a:off x="7239000" y="4480277"/>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52" name="TextBox 51"/>
          <p:cNvSpPr txBox="1"/>
          <p:nvPr/>
        </p:nvSpPr>
        <p:spPr>
          <a:xfrm>
            <a:off x="9334500" y="4480277"/>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53" name="Rectangle 52"/>
          <p:cNvSpPr/>
          <p:nvPr/>
        </p:nvSpPr>
        <p:spPr>
          <a:xfrm>
            <a:off x="762000" y="4931833"/>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9000" y="4931833"/>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Beds &amp; Departments</a:t>
            </a:r>
          </a:p>
        </p:txBody>
      </p:sp>
      <p:sp>
        <p:nvSpPr>
          <p:cNvPr id="55" name="TextBox 54"/>
          <p:cNvSpPr txBox="1"/>
          <p:nvPr/>
        </p:nvSpPr>
        <p:spPr>
          <a:xfrm>
            <a:off x="3175000" y="4931833"/>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manage</a:t>
            </a:r>
          </a:p>
        </p:txBody>
      </p:sp>
      <p:sp>
        <p:nvSpPr>
          <p:cNvPr id="56" name="TextBox 55"/>
          <p:cNvSpPr txBox="1"/>
          <p:nvPr/>
        </p:nvSpPr>
        <p:spPr>
          <a:xfrm>
            <a:off x="5143500" y="4931833"/>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57" name="TextBox 56"/>
          <p:cNvSpPr txBox="1"/>
          <p:nvPr/>
        </p:nvSpPr>
        <p:spPr>
          <a:xfrm>
            <a:off x="7239000" y="4931833"/>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58" name="TextBox 57"/>
          <p:cNvSpPr txBox="1"/>
          <p:nvPr/>
        </p:nvSpPr>
        <p:spPr>
          <a:xfrm>
            <a:off x="9334500" y="4931833"/>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 assign</a:t>
            </a:r>
          </a:p>
        </p:txBody>
      </p:sp>
      <p:sp>
        <p:nvSpPr>
          <p:cNvPr id="59" name="Rectangle 58"/>
          <p:cNvSpPr/>
          <p:nvPr/>
        </p:nvSpPr>
        <p:spPr>
          <a:xfrm>
            <a:off x="762000" y="5383388"/>
            <a:ext cx="10668000" cy="451555"/>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62000" y="5383388"/>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9000" y="5383388"/>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Audit Log</a:t>
            </a:r>
          </a:p>
        </p:txBody>
      </p:sp>
      <p:sp>
        <p:nvSpPr>
          <p:cNvPr id="62" name="TextBox 61"/>
          <p:cNvSpPr txBox="1"/>
          <p:nvPr/>
        </p:nvSpPr>
        <p:spPr>
          <a:xfrm>
            <a:off x="3175000" y="5383388"/>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63" name="TextBox 62"/>
          <p:cNvSpPr txBox="1"/>
          <p:nvPr/>
        </p:nvSpPr>
        <p:spPr>
          <a:xfrm>
            <a:off x="5143500" y="5383388"/>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64" name="TextBox 63"/>
          <p:cNvSpPr txBox="1"/>
          <p:nvPr/>
        </p:nvSpPr>
        <p:spPr>
          <a:xfrm>
            <a:off x="7239000" y="5383388"/>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65" name="TextBox 64"/>
          <p:cNvSpPr txBox="1"/>
          <p:nvPr/>
        </p:nvSpPr>
        <p:spPr>
          <a:xfrm>
            <a:off x="9334500" y="5383388"/>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
        <p:nvSpPr>
          <p:cNvPr id="66" name="Rectangle 65"/>
          <p:cNvSpPr/>
          <p:nvPr/>
        </p:nvSpPr>
        <p:spPr>
          <a:xfrm>
            <a:off x="762000" y="5834944"/>
            <a:ext cx="10668000" cy="635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9000" y="5834944"/>
            <a:ext cx="2159000" cy="451555"/>
          </a:xfrm>
          <a:prstGeom prst="rect">
            <a:avLst/>
          </a:prstGeom>
          <a:noFill/>
        </p:spPr>
        <p:txBody>
          <a:bodyPr wrap="square" lIns="0" rIns="0" tIns="0" bIns="0" anchor="ctr">
            <a:spAutoFit/>
          </a:bodyPr>
          <a:lstStyle/>
          <a:p>
            <a:pPr algn="l">
              <a:lnSpc>
                <a:spcPct val="115000"/>
              </a:lnSpc>
            </a:pPr>
            <a:r>
              <a:rPr sz="1200" b="1" i="0">
                <a:solidFill>
                  <a:srgbClr val="0D1B2A"/>
                </a:solidFill>
                <a:latin typeface="DM Sans"/>
              </a:rPr>
              <a:t>PDF Export</a:t>
            </a:r>
          </a:p>
        </p:txBody>
      </p:sp>
      <p:sp>
        <p:nvSpPr>
          <p:cNvPr id="68" name="TextBox 67"/>
          <p:cNvSpPr txBox="1"/>
          <p:nvPr/>
        </p:nvSpPr>
        <p:spPr>
          <a:xfrm>
            <a:off x="3175000" y="5834944"/>
            <a:ext cx="1968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69" name="TextBox 68"/>
          <p:cNvSpPr txBox="1"/>
          <p:nvPr/>
        </p:nvSpPr>
        <p:spPr>
          <a:xfrm>
            <a:off x="5143500" y="5834944"/>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70" name="TextBox 69"/>
          <p:cNvSpPr txBox="1"/>
          <p:nvPr/>
        </p:nvSpPr>
        <p:spPr>
          <a:xfrm>
            <a:off x="7239000" y="5834944"/>
            <a:ext cx="2095500" cy="451555"/>
          </a:xfrm>
          <a:prstGeom prst="rect">
            <a:avLst/>
          </a:prstGeom>
          <a:noFill/>
        </p:spPr>
        <p:txBody>
          <a:bodyPr wrap="square" lIns="0" rIns="0" tIns="0" bIns="0" anchor="ctr">
            <a:spAutoFit/>
          </a:bodyPr>
          <a:lstStyle/>
          <a:p>
            <a:pPr algn="ctr">
              <a:lnSpc>
                <a:spcPct val="115000"/>
              </a:lnSpc>
            </a:pPr>
            <a:r>
              <a:rPr sz="1200" b="1" i="0">
                <a:solidFill>
                  <a:srgbClr val="0AA693"/>
                </a:solidFill>
                <a:latin typeface="DM Sans"/>
              </a:rPr>
              <a:t>✓</a:t>
            </a:r>
          </a:p>
        </p:txBody>
      </p:sp>
      <p:sp>
        <p:nvSpPr>
          <p:cNvPr id="71" name="TextBox 70"/>
          <p:cNvSpPr txBox="1"/>
          <p:nvPr/>
        </p:nvSpPr>
        <p:spPr>
          <a:xfrm>
            <a:off x="9334500" y="5834944"/>
            <a:ext cx="2095500" cy="451555"/>
          </a:xfrm>
          <a:prstGeom prst="rect">
            <a:avLst/>
          </a:prstGeom>
          <a:noFill/>
        </p:spPr>
        <p:txBody>
          <a:bodyPr wrap="square" lIns="0" rIns="0" tIns="0" bIns="0" anchor="ctr">
            <a:spAutoFit/>
          </a:bodyPr>
          <a:lstStyle/>
          <a:p>
            <a:pPr algn="ctr">
              <a:lnSpc>
                <a:spcPct val="115000"/>
              </a:lnSpc>
            </a:pPr>
            <a:r>
              <a:rPr sz="1200" b="0" i="0">
                <a:solidFill>
                  <a:srgbClr val="B8BECA"/>
                </a:solidFill>
                <a:latin typeface="DM San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08 — THE RUNNING APP</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Live Screenshots</a:t>
            </a:r>
          </a:p>
        </p:txBody>
      </p:sp>
      <p:sp>
        <p:nvSpPr>
          <p:cNvPr id="5" name="Rounded Rectangle 4"/>
          <p:cNvSpPr/>
          <p:nvPr/>
        </p:nvSpPr>
        <p:spPr>
          <a:xfrm>
            <a:off x="762000" y="17780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ot-01-admin-dashboard.png"/>
          <p:cNvPicPr>
            <a:picLocks noChangeAspect="1"/>
          </p:cNvPicPr>
          <p:nvPr/>
        </p:nvPicPr>
        <p:blipFill>
          <a:blip r:embed="rId2"/>
          <a:stretch>
            <a:fillRect/>
          </a:stretch>
        </p:blipFill>
        <p:spPr>
          <a:xfrm>
            <a:off x="787400" y="1803400"/>
            <a:ext cx="3378200" cy="1765300"/>
          </a:xfrm>
          <a:prstGeom prst="rect">
            <a:avLst/>
          </a:prstGeom>
        </p:spPr>
      </p:pic>
      <p:sp>
        <p:nvSpPr>
          <p:cNvPr id="7" name="TextBox 6"/>
          <p:cNvSpPr txBox="1"/>
          <p:nvPr/>
        </p:nvSpPr>
        <p:spPr>
          <a:xfrm>
            <a:off x="762000" y="36449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Admin — overview + recharts analytics</a:t>
            </a:r>
          </a:p>
        </p:txBody>
      </p:sp>
      <p:sp>
        <p:nvSpPr>
          <p:cNvPr id="8" name="Rounded Rectangle 7"/>
          <p:cNvSpPr/>
          <p:nvPr/>
        </p:nvSpPr>
        <p:spPr>
          <a:xfrm>
            <a:off x="4318000" y="17780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ot-02-appointment-booking.png"/>
          <p:cNvPicPr>
            <a:picLocks noChangeAspect="1"/>
          </p:cNvPicPr>
          <p:nvPr/>
        </p:nvPicPr>
        <p:blipFill>
          <a:blip r:embed="rId3"/>
          <a:stretch>
            <a:fillRect/>
          </a:stretch>
        </p:blipFill>
        <p:spPr>
          <a:xfrm>
            <a:off x="4343400" y="1803400"/>
            <a:ext cx="3378200" cy="1765300"/>
          </a:xfrm>
          <a:prstGeom prst="rect">
            <a:avLst/>
          </a:prstGeom>
        </p:spPr>
      </p:pic>
      <p:sp>
        <p:nvSpPr>
          <p:cNvPr id="10" name="TextBox 9"/>
          <p:cNvSpPr txBox="1"/>
          <p:nvPr/>
        </p:nvSpPr>
        <p:spPr>
          <a:xfrm>
            <a:off x="4318000" y="36449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Patient — booking flow</a:t>
            </a:r>
          </a:p>
        </p:txBody>
      </p:sp>
      <p:sp>
        <p:nvSpPr>
          <p:cNvPr id="11" name="Rounded Rectangle 10"/>
          <p:cNvSpPr/>
          <p:nvPr/>
        </p:nvSpPr>
        <p:spPr>
          <a:xfrm>
            <a:off x="7874000" y="17780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ot-03-metamask-payment.png"/>
          <p:cNvPicPr>
            <a:picLocks noChangeAspect="1"/>
          </p:cNvPicPr>
          <p:nvPr/>
        </p:nvPicPr>
        <p:blipFill>
          <a:blip r:embed="rId4"/>
          <a:stretch>
            <a:fillRect/>
          </a:stretch>
        </p:blipFill>
        <p:spPr>
          <a:xfrm>
            <a:off x="7899400" y="1803400"/>
            <a:ext cx="3378200" cy="1765300"/>
          </a:xfrm>
          <a:prstGeom prst="rect">
            <a:avLst/>
          </a:prstGeom>
        </p:spPr>
      </p:pic>
      <p:sp>
        <p:nvSpPr>
          <p:cNvPr id="13" name="TextBox 12"/>
          <p:cNvSpPr txBox="1"/>
          <p:nvPr/>
        </p:nvSpPr>
        <p:spPr>
          <a:xfrm>
            <a:off x="7874000" y="36449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MetaMask — payBillOnChain signature</a:t>
            </a:r>
          </a:p>
        </p:txBody>
      </p:sp>
      <p:sp>
        <p:nvSpPr>
          <p:cNvPr id="14" name="Rounded Rectangle 13"/>
          <p:cNvSpPr/>
          <p:nvPr/>
        </p:nvSpPr>
        <p:spPr>
          <a:xfrm>
            <a:off x="762000" y="41275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ot-04-blockchain-verification.png"/>
          <p:cNvPicPr>
            <a:picLocks noChangeAspect="1"/>
          </p:cNvPicPr>
          <p:nvPr/>
        </p:nvPicPr>
        <p:blipFill>
          <a:blip r:embed="rId5"/>
          <a:stretch>
            <a:fillRect/>
          </a:stretch>
        </p:blipFill>
        <p:spPr>
          <a:xfrm>
            <a:off x="787400" y="4152900"/>
            <a:ext cx="3378200" cy="1765300"/>
          </a:xfrm>
          <a:prstGeom prst="rect">
            <a:avLst/>
          </a:prstGeom>
        </p:spPr>
      </p:pic>
      <p:sp>
        <p:nvSpPr>
          <p:cNvPr id="16" name="TextBox 15"/>
          <p:cNvSpPr txBox="1"/>
          <p:nvPr/>
        </p:nvSpPr>
        <p:spPr>
          <a:xfrm>
            <a:off x="762000" y="59944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Admin — on-chain verification</a:t>
            </a:r>
          </a:p>
        </p:txBody>
      </p:sp>
      <p:sp>
        <p:nvSpPr>
          <p:cNvPr id="17" name="Rounded Rectangle 16"/>
          <p:cNvSpPr/>
          <p:nvPr/>
        </p:nvSpPr>
        <p:spPr>
          <a:xfrm>
            <a:off x="4318000" y="41275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hot-05-audit-log.png"/>
          <p:cNvPicPr>
            <a:picLocks noChangeAspect="1"/>
          </p:cNvPicPr>
          <p:nvPr/>
        </p:nvPicPr>
        <p:blipFill>
          <a:blip r:embed="rId6"/>
          <a:stretch>
            <a:fillRect/>
          </a:stretch>
        </p:blipFill>
        <p:spPr>
          <a:xfrm>
            <a:off x="4343400" y="4152900"/>
            <a:ext cx="3378200" cy="1765300"/>
          </a:xfrm>
          <a:prstGeom prst="rect">
            <a:avLst/>
          </a:prstGeom>
        </p:spPr>
      </p:pic>
      <p:sp>
        <p:nvSpPr>
          <p:cNvPr id="19" name="TextBox 18"/>
          <p:cNvSpPr txBox="1"/>
          <p:nvPr/>
        </p:nvSpPr>
        <p:spPr>
          <a:xfrm>
            <a:off x="4318000" y="59944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Admin — audit trail</a:t>
            </a:r>
          </a:p>
        </p:txBody>
      </p:sp>
      <p:sp>
        <p:nvSpPr>
          <p:cNvPr id="20" name="Rounded Rectangle 19"/>
          <p:cNvSpPr/>
          <p:nvPr/>
        </p:nvSpPr>
        <p:spPr>
          <a:xfrm>
            <a:off x="7874000" y="4127500"/>
            <a:ext cx="3429000" cy="1816100"/>
          </a:xfrm>
          <a:prstGeom prst="roundRect">
            <a:avLst>
              <a:gd name="adj" fmla="val 2000"/>
            </a:avLst>
          </a:prstGeom>
          <a:solidFill>
            <a:srgbClr val="F5F7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ot-06-prescription-pdf.png"/>
          <p:cNvPicPr>
            <a:picLocks noChangeAspect="1"/>
          </p:cNvPicPr>
          <p:nvPr/>
        </p:nvPicPr>
        <p:blipFill>
          <a:blip r:embed="rId7"/>
          <a:stretch>
            <a:fillRect/>
          </a:stretch>
        </p:blipFill>
        <p:spPr>
          <a:xfrm>
            <a:off x="7899400" y="4152900"/>
            <a:ext cx="3378200" cy="1765300"/>
          </a:xfrm>
          <a:prstGeom prst="rect">
            <a:avLst/>
          </a:prstGeom>
        </p:spPr>
      </p:pic>
      <p:sp>
        <p:nvSpPr>
          <p:cNvPr id="22" name="TextBox 21"/>
          <p:cNvSpPr txBox="1"/>
          <p:nvPr/>
        </p:nvSpPr>
        <p:spPr>
          <a:xfrm>
            <a:off x="7874000" y="5994400"/>
            <a:ext cx="3429000" cy="228600"/>
          </a:xfrm>
          <a:prstGeom prst="rect">
            <a:avLst/>
          </a:prstGeom>
          <a:noFill/>
        </p:spPr>
        <p:txBody>
          <a:bodyPr wrap="square" lIns="0" rIns="0" tIns="0" bIns="0" anchor="t">
            <a:spAutoFit/>
          </a:bodyPr>
          <a:lstStyle/>
          <a:p>
            <a:pPr algn="ctr">
              <a:lnSpc>
                <a:spcPct val="115000"/>
              </a:lnSpc>
            </a:pPr>
            <a:r>
              <a:rPr sz="1100" b="1" i="0">
                <a:solidFill>
                  <a:srgbClr val="0D1B2A"/>
                </a:solidFill>
                <a:latin typeface="DM Sans"/>
              </a:rPr>
              <a:t>jsPDF — portable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6CB8DA"/>
                </a:solidFill>
                <a:latin typeface="DM Sans"/>
              </a:rPr>
              <a:t>09 — CROSS-CUTTING</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F9FAFB"/>
                </a:solidFill>
                <a:latin typeface="DM Sans"/>
              </a:rPr>
              <a:t>Key Cross-Cutting Features</a:t>
            </a:r>
          </a:p>
        </p:txBody>
      </p:sp>
      <p:sp>
        <p:nvSpPr>
          <p:cNvPr id="5" name="Rounded Rectangle 4"/>
          <p:cNvSpPr/>
          <p:nvPr/>
        </p:nvSpPr>
        <p:spPr>
          <a:xfrm>
            <a:off x="762000" y="184150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0600" y="2070100"/>
            <a:ext cx="114300" cy="114300"/>
          </a:xfrm>
          <a:prstGeom prst="ellipse">
            <a:avLst/>
          </a:prstGeom>
          <a:solidFill>
            <a:srgbClr val="6CB8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0600" y="229870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Tamper-Proof Audit Trail</a:t>
            </a:r>
          </a:p>
        </p:txBody>
      </p:sp>
      <p:sp>
        <p:nvSpPr>
          <p:cNvPr id="8" name="TextBox 7"/>
          <p:cNvSpPr txBox="1"/>
          <p:nvPr/>
        </p:nvSpPr>
        <p:spPr>
          <a:xfrm>
            <a:off x="990600" y="266700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Every appointment, billing, and prescription is mirrored on-chain. The tx hash is persisted on the Mongo document; admins re-verify by reading directly from Ganache.</a:t>
            </a:r>
          </a:p>
        </p:txBody>
      </p:sp>
      <p:sp>
        <p:nvSpPr>
          <p:cNvPr id="9" name="Rounded Rectangle 8"/>
          <p:cNvSpPr/>
          <p:nvPr/>
        </p:nvSpPr>
        <p:spPr>
          <a:xfrm>
            <a:off x="4286250" y="184150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14850" y="2070100"/>
            <a:ext cx="114300" cy="114300"/>
          </a:xfrm>
          <a:prstGeom prst="ellipse">
            <a:avLst/>
          </a:prstGeom>
          <a:solidFill>
            <a:srgbClr val="7AD2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850" y="229870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Audit Middleware</a:t>
            </a:r>
          </a:p>
        </p:txBody>
      </p:sp>
      <p:sp>
        <p:nvSpPr>
          <p:cNvPr id="12" name="TextBox 11"/>
          <p:cNvSpPr txBox="1"/>
          <p:nvPr/>
        </p:nvSpPr>
        <p:spPr>
          <a:xfrm>
            <a:off x="4514850" y="266700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An Express middleware intercepts every mutating HTTP request and writes a timestamped AuditLog entry — who, what, when — independent of the blockchain trail.</a:t>
            </a:r>
          </a:p>
        </p:txBody>
      </p:sp>
      <p:sp>
        <p:nvSpPr>
          <p:cNvPr id="13" name="Rounded Rectangle 12"/>
          <p:cNvSpPr/>
          <p:nvPr/>
        </p:nvSpPr>
        <p:spPr>
          <a:xfrm>
            <a:off x="7810500" y="184150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39100" y="2070100"/>
            <a:ext cx="114300" cy="114300"/>
          </a:xfrm>
          <a:prstGeom prst="ellipse">
            <a:avLst/>
          </a:prstGeom>
          <a:solidFill>
            <a:srgbClr val="D9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9100" y="229870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MetaMask Wallet Integration</a:t>
            </a:r>
          </a:p>
        </p:txBody>
      </p:sp>
      <p:sp>
        <p:nvSpPr>
          <p:cNvPr id="16" name="TextBox 15"/>
          <p:cNvSpPr txBox="1"/>
          <p:nvPr/>
        </p:nvSpPr>
        <p:spPr>
          <a:xfrm>
            <a:off x="8039100" y="266700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The MetaMask bar detects window.ethereum, shows account + ETH balance. Patients call payBillOnChain directly — backend never holds their funds.</a:t>
            </a:r>
          </a:p>
        </p:txBody>
      </p:sp>
      <p:sp>
        <p:nvSpPr>
          <p:cNvPr id="17" name="Rounded Rectangle 16"/>
          <p:cNvSpPr/>
          <p:nvPr/>
        </p:nvSpPr>
        <p:spPr>
          <a:xfrm>
            <a:off x="762000" y="409575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90600" y="4324350"/>
            <a:ext cx="114300" cy="114300"/>
          </a:xfrm>
          <a:prstGeom prst="ellipse">
            <a:avLst/>
          </a:prstGeom>
          <a:solidFill>
            <a:srgbClr val="A08B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0600" y="455295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Real-Time Notifications</a:t>
            </a:r>
          </a:p>
        </p:txBody>
      </p:sp>
      <p:sp>
        <p:nvSpPr>
          <p:cNvPr id="20" name="TextBox 19"/>
          <p:cNvSpPr txBox="1"/>
          <p:nvPr/>
        </p:nvSpPr>
        <p:spPr>
          <a:xfrm>
            <a:off x="990600" y="492125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In-app bell polls the API every 30 s. Events fire on booking confirmation, payment success, and prescription issuance — no page refresh required.</a:t>
            </a:r>
          </a:p>
        </p:txBody>
      </p:sp>
      <p:sp>
        <p:nvSpPr>
          <p:cNvPr id="21" name="Rounded Rectangle 20"/>
          <p:cNvSpPr/>
          <p:nvPr/>
        </p:nvSpPr>
        <p:spPr>
          <a:xfrm>
            <a:off x="4286250" y="409575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14850" y="4324350"/>
            <a:ext cx="114300" cy="114300"/>
          </a:xfrm>
          <a:prstGeom prst="ellipse">
            <a:avLst/>
          </a:prstGeom>
          <a:solidFill>
            <a:srgbClr val="DE8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4850" y="455295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PDF Exports via jsPDF</a:t>
            </a:r>
          </a:p>
        </p:txBody>
      </p:sp>
      <p:sp>
        <p:nvSpPr>
          <p:cNvPr id="24" name="TextBox 23"/>
          <p:cNvSpPr txBox="1"/>
          <p:nvPr/>
        </p:nvSpPr>
        <p:spPr>
          <a:xfrm>
            <a:off x="4514850" y="492125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Bills and prescriptions exported from patient and doctor dashboards, with the tx hash embedded in the footer so paper records remain verifiable.</a:t>
            </a:r>
          </a:p>
        </p:txBody>
      </p:sp>
      <p:sp>
        <p:nvSpPr>
          <p:cNvPr id="25" name="Rounded Rectangle 24"/>
          <p:cNvSpPr/>
          <p:nvPr/>
        </p:nvSpPr>
        <p:spPr>
          <a:xfrm>
            <a:off x="7810500" y="4095750"/>
            <a:ext cx="3365500" cy="2095500"/>
          </a:xfrm>
          <a:prstGeom prst="roundRect">
            <a:avLst>
              <a:gd name="adj" fmla="val 5000"/>
            </a:avLst>
          </a:prstGeom>
          <a:solidFill>
            <a:srgbClr val="1A293E"/>
          </a:solidFill>
          <a:ln w="12700">
            <a:solidFill>
              <a:srgbClr val="2A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39100" y="4324350"/>
            <a:ext cx="114300" cy="114300"/>
          </a:xfrm>
          <a:prstGeom prst="ellipse">
            <a:avLst/>
          </a:prstGeom>
          <a:solidFill>
            <a:srgbClr val="8BC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39100" y="4552950"/>
            <a:ext cx="2908300" cy="304800"/>
          </a:xfrm>
          <a:prstGeom prst="rect">
            <a:avLst/>
          </a:prstGeom>
          <a:noFill/>
        </p:spPr>
        <p:txBody>
          <a:bodyPr wrap="square" lIns="0" rIns="0" tIns="0" bIns="0" anchor="t">
            <a:spAutoFit/>
          </a:bodyPr>
          <a:lstStyle/>
          <a:p>
            <a:pPr algn="l">
              <a:lnSpc>
                <a:spcPct val="115000"/>
              </a:lnSpc>
            </a:pPr>
            <a:r>
              <a:rPr sz="1500" b="1" i="0">
                <a:solidFill>
                  <a:srgbClr val="F9FAFB"/>
                </a:solidFill>
                <a:latin typeface="DM Sans"/>
              </a:rPr>
              <a:t>JWT Auth + Doctor Approval</a:t>
            </a:r>
          </a:p>
        </p:txBody>
      </p:sp>
      <p:sp>
        <p:nvSpPr>
          <p:cNvPr id="28" name="TextBox 27"/>
          <p:cNvSpPr txBox="1"/>
          <p:nvPr/>
        </p:nvSpPr>
        <p:spPr>
          <a:xfrm>
            <a:off x="8039100" y="4921250"/>
            <a:ext cx="2908300" cy="1143000"/>
          </a:xfrm>
          <a:prstGeom prst="rect">
            <a:avLst/>
          </a:prstGeom>
          <a:noFill/>
        </p:spPr>
        <p:txBody>
          <a:bodyPr wrap="square" lIns="0" rIns="0" tIns="0" bIns="0" anchor="t">
            <a:spAutoFit/>
          </a:bodyPr>
          <a:lstStyle/>
          <a:p>
            <a:pPr algn="l">
              <a:lnSpc>
                <a:spcPct val="145000"/>
              </a:lnSpc>
            </a:pPr>
            <a:r>
              <a:rPr sz="1100" b="0" i="0">
                <a:solidFill>
                  <a:srgbClr val="98A1AE"/>
                </a:solidFill>
                <a:latin typeface="DM Sans"/>
              </a:rPr>
              <a:t>Doctor registrations enter a 'pending' state requiring admin approval. bcryptjs + JWT secure every endpoint; role middleware enforces access boundaries.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10 — CRITICAL ANALYSIS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Design Rationale &amp; Evaluation</a:t>
            </a:r>
          </a:p>
        </p:txBody>
      </p:sp>
      <p:sp>
        <p:nvSpPr>
          <p:cNvPr id="5" name="Rectangle 4"/>
          <p:cNvSpPr/>
          <p:nvPr/>
        </p:nvSpPr>
        <p:spPr>
          <a:xfrm>
            <a:off x="762000" y="1778000"/>
            <a:ext cx="3429000" cy="508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2000" y="1828800"/>
            <a:ext cx="3429000" cy="4318000"/>
          </a:xfrm>
          <a:prstGeom prst="roundRect">
            <a:avLst>
              <a:gd name="adj" fmla="val 3000"/>
            </a:avLst>
          </a:prstGeom>
          <a:solidFill>
            <a:srgbClr val="EA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968500"/>
            <a:ext cx="3048000" cy="254000"/>
          </a:xfrm>
          <a:prstGeom prst="rect">
            <a:avLst/>
          </a:prstGeom>
          <a:noFill/>
        </p:spPr>
        <p:txBody>
          <a:bodyPr wrap="square" lIns="0" rIns="0" tIns="0" bIns="0" anchor="t">
            <a:spAutoFit/>
          </a:bodyPr>
          <a:lstStyle/>
          <a:p>
            <a:pPr algn="l">
              <a:lnSpc>
                <a:spcPct val="115000"/>
              </a:lnSpc>
            </a:pPr>
            <a:r>
              <a:rPr sz="1200" b="1" i="0" spc="200">
                <a:solidFill>
                  <a:srgbClr val="1A8FC2"/>
                </a:solidFill>
                <a:latin typeface="DM Sans"/>
              </a:rPr>
              <a:t>WHY THESE CHOICES</a:t>
            </a:r>
          </a:p>
        </p:txBody>
      </p:sp>
      <p:sp>
        <p:nvSpPr>
          <p:cNvPr id="8" name="TextBox 7"/>
          <p:cNvSpPr txBox="1"/>
          <p:nvPr/>
        </p:nvSpPr>
        <p:spPr>
          <a:xfrm>
            <a:off x="952500" y="2349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Ganache over Sepolia</a:t>
            </a:r>
          </a:p>
        </p:txBody>
      </p:sp>
      <p:sp>
        <p:nvSpPr>
          <p:cNvPr id="9" name="TextBox 8"/>
          <p:cNvSpPr txBox="1"/>
          <p:nvPr/>
        </p:nvSpPr>
        <p:spPr>
          <a:xfrm>
            <a:off x="952500" y="2616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Zero-cost, instant feedback loop during development — no faucet or block-time delay.</a:t>
            </a:r>
          </a:p>
        </p:txBody>
      </p:sp>
      <p:sp>
        <p:nvSpPr>
          <p:cNvPr id="10" name="TextBox 9"/>
          <p:cNvSpPr txBox="1"/>
          <p:nvPr/>
        </p:nvSpPr>
        <p:spPr>
          <a:xfrm>
            <a:off x="952500" y="3302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Mongoose over raw driver</a:t>
            </a:r>
          </a:p>
        </p:txBody>
      </p:sp>
      <p:sp>
        <p:nvSpPr>
          <p:cNvPr id="11" name="TextBox 10"/>
          <p:cNvSpPr txBox="1"/>
          <p:nvPr/>
        </p:nvSpPr>
        <p:spPr>
          <a:xfrm>
            <a:off x="952500" y="3568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Schema validation + middleware hooks enabled audit logging with zero controller noise.</a:t>
            </a:r>
          </a:p>
        </p:txBody>
      </p:sp>
      <p:sp>
        <p:nvSpPr>
          <p:cNvPr id="12" name="TextBox 11"/>
          <p:cNvSpPr txBox="1"/>
          <p:nvPr/>
        </p:nvSpPr>
        <p:spPr>
          <a:xfrm>
            <a:off x="952500" y="4254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Hybrid, not fully on-chain</a:t>
            </a:r>
          </a:p>
        </p:txBody>
      </p:sp>
      <p:sp>
        <p:nvSpPr>
          <p:cNvPr id="13" name="TextBox 12"/>
          <p:cNvSpPr txBox="1"/>
          <p:nvPr/>
        </p:nvSpPr>
        <p:spPr>
          <a:xfrm>
            <a:off x="952500" y="4521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Storing full records on-chain is prohibitively expensive; we anchor hashes + status only.</a:t>
            </a:r>
          </a:p>
        </p:txBody>
      </p:sp>
      <p:sp>
        <p:nvSpPr>
          <p:cNvPr id="14" name="TextBox 13"/>
          <p:cNvSpPr txBox="1"/>
          <p:nvPr/>
        </p:nvSpPr>
        <p:spPr>
          <a:xfrm>
            <a:off x="952500" y="5207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JWT over sessions</a:t>
            </a:r>
          </a:p>
        </p:txBody>
      </p:sp>
      <p:sp>
        <p:nvSpPr>
          <p:cNvPr id="15" name="TextBox 14"/>
          <p:cNvSpPr txBox="1"/>
          <p:nvPr/>
        </p:nvSpPr>
        <p:spPr>
          <a:xfrm>
            <a:off x="952500" y="5473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Stateless auth scales better and matches the SPA model — no server-side session store.</a:t>
            </a:r>
          </a:p>
        </p:txBody>
      </p:sp>
      <p:sp>
        <p:nvSpPr>
          <p:cNvPr id="16" name="Rectangle 15"/>
          <p:cNvSpPr/>
          <p:nvPr/>
        </p:nvSpPr>
        <p:spPr>
          <a:xfrm>
            <a:off x="4343400" y="1778000"/>
            <a:ext cx="3429000" cy="50800"/>
          </a:xfrm>
          <a:prstGeom prst="rect">
            <a:avLst/>
          </a:prstGeom>
          <a:solidFill>
            <a:srgbClr val="BB8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43400" y="1828800"/>
            <a:ext cx="3429000" cy="4318000"/>
          </a:xfrm>
          <a:prstGeom prst="roundRect">
            <a:avLst>
              <a:gd name="adj" fmla="val 3000"/>
            </a:avLst>
          </a:prstGeom>
          <a:solidFill>
            <a:srgbClr val="F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3900" y="1968500"/>
            <a:ext cx="3048000" cy="254000"/>
          </a:xfrm>
          <a:prstGeom prst="rect">
            <a:avLst/>
          </a:prstGeom>
          <a:noFill/>
        </p:spPr>
        <p:txBody>
          <a:bodyPr wrap="square" lIns="0" rIns="0" tIns="0" bIns="0" anchor="t">
            <a:spAutoFit/>
          </a:bodyPr>
          <a:lstStyle/>
          <a:p>
            <a:pPr algn="l">
              <a:lnSpc>
                <a:spcPct val="115000"/>
              </a:lnSpc>
            </a:pPr>
            <a:r>
              <a:rPr sz="1200" b="1" i="0" spc="200">
                <a:solidFill>
                  <a:srgbClr val="BB8520"/>
                </a:solidFill>
                <a:latin typeface="DM Sans"/>
              </a:rPr>
              <a:t>TRADE-OFFS &amp; LIMITATIONS</a:t>
            </a:r>
          </a:p>
        </p:txBody>
      </p:sp>
      <p:sp>
        <p:nvSpPr>
          <p:cNvPr id="19" name="TextBox 18"/>
          <p:cNvSpPr txBox="1"/>
          <p:nvPr/>
        </p:nvSpPr>
        <p:spPr>
          <a:xfrm>
            <a:off x="4533900" y="2349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onlyOwner centralisation</a:t>
            </a:r>
          </a:p>
        </p:txBody>
      </p:sp>
      <p:sp>
        <p:nvSpPr>
          <p:cNvPr id="20" name="TextBox 19"/>
          <p:cNvSpPr txBox="1"/>
          <p:nvPr/>
        </p:nvSpPr>
        <p:spPr>
          <a:xfrm>
            <a:off x="4533900" y="2616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A single deployer account signs every write — reintroduces trust the chain was meant to remove.</a:t>
            </a:r>
          </a:p>
        </p:txBody>
      </p:sp>
      <p:sp>
        <p:nvSpPr>
          <p:cNvPr id="21" name="TextBox 20"/>
          <p:cNvSpPr txBox="1"/>
          <p:nvPr/>
        </p:nvSpPr>
        <p:spPr>
          <a:xfrm>
            <a:off x="4533900" y="3302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Ganache is local</a:t>
            </a:r>
          </a:p>
        </p:txBody>
      </p:sp>
      <p:sp>
        <p:nvSpPr>
          <p:cNvPr id="22" name="TextBox 21"/>
          <p:cNvSpPr txBox="1"/>
          <p:nvPr/>
        </p:nvSpPr>
        <p:spPr>
          <a:xfrm>
            <a:off x="4533900" y="3568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Tutors cannot inspect the chain on a public explorer; demo-only, not production-ready.</a:t>
            </a:r>
          </a:p>
        </p:txBody>
      </p:sp>
      <p:sp>
        <p:nvSpPr>
          <p:cNvPr id="23" name="TextBox 22"/>
          <p:cNvSpPr txBox="1"/>
          <p:nvPr/>
        </p:nvSpPr>
        <p:spPr>
          <a:xfrm>
            <a:off x="4533900" y="4254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No event indexer</a:t>
            </a:r>
          </a:p>
        </p:txBody>
      </p:sp>
      <p:sp>
        <p:nvSpPr>
          <p:cNvPr id="24" name="TextBox 23"/>
          <p:cNvSpPr txBox="1"/>
          <p:nvPr/>
        </p:nvSpPr>
        <p:spPr>
          <a:xfrm>
            <a:off x="4533900" y="4521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Historical queries iterate mappings — won't scale past thousands of records.</a:t>
            </a:r>
          </a:p>
        </p:txBody>
      </p:sp>
      <p:sp>
        <p:nvSpPr>
          <p:cNvPr id="25" name="TextBox 24"/>
          <p:cNvSpPr txBox="1"/>
          <p:nvPr/>
        </p:nvSpPr>
        <p:spPr>
          <a:xfrm>
            <a:off x="4533900" y="5207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Silent errors fixed, but incomplete</a:t>
            </a:r>
          </a:p>
        </p:txBody>
      </p:sp>
      <p:sp>
        <p:nvSpPr>
          <p:cNvPr id="26" name="TextBox 25"/>
          <p:cNvSpPr txBox="1"/>
          <p:nvPr/>
        </p:nvSpPr>
        <p:spPr>
          <a:xfrm>
            <a:off x="4533900" y="5473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We now persist 'failed' status; a retry queue would be the next step.</a:t>
            </a:r>
          </a:p>
        </p:txBody>
      </p:sp>
      <p:sp>
        <p:nvSpPr>
          <p:cNvPr id="27" name="Rectangle 26"/>
          <p:cNvSpPr/>
          <p:nvPr/>
        </p:nvSpPr>
        <p:spPr>
          <a:xfrm>
            <a:off x="7924800" y="1778000"/>
            <a:ext cx="3429000" cy="50800"/>
          </a:xfrm>
          <a:prstGeom prst="rect">
            <a:avLst/>
          </a:prstGeom>
          <a:solidFill>
            <a:srgbClr val="0AA6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924800" y="1828800"/>
            <a:ext cx="3429000" cy="4318000"/>
          </a:xfrm>
          <a:prstGeom prst="roundRect">
            <a:avLst>
              <a:gd name="adj" fmla="val 3000"/>
            </a:avLst>
          </a:prstGeom>
          <a:solidFill>
            <a:srgbClr val="E6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15300" y="1968500"/>
            <a:ext cx="3048000" cy="254000"/>
          </a:xfrm>
          <a:prstGeom prst="rect">
            <a:avLst/>
          </a:prstGeom>
          <a:noFill/>
        </p:spPr>
        <p:txBody>
          <a:bodyPr wrap="square" lIns="0" rIns="0" tIns="0" bIns="0" anchor="t">
            <a:spAutoFit/>
          </a:bodyPr>
          <a:lstStyle/>
          <a:p>
            <a:pPr algn="l">
              <a:lnSpc>
                <a:spcPct val="115000"/>
              </a:lnSpc>
            </a:pPr>
            <a:r>
              <a:rPr sz="1200" b="1" i="0" spc="200">
                <a:solidFill>
                  <a:srgbClr val="0AA693"/>
                </a:solidFill>
                <a:latin typeface="DM Sans"/>
              </a:rPr>
              <a:t>FUTURE WORK</a:t>
            </a:r>
          </a:p>
        </p:txBody>
      </p:sp>
      <p:sp>
        <p:nvSpPr>
          <p:cNvPr id="30" name="TextBox 29"/>
          <p:cNvSpPr txBox="1"/>
          <p:nvPr/>
        </p:nvSpPr>
        <p:spPr>
          <a:xfrm>
            <a:off x="8115300" y="2349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Migrate to Sepolia testnet</a:t>
            </a:r>
          </a:p>
        </p:txBody>
      </p:sp>
      <p:sp>
        <p:nvSpPr>
          <p:cNvPr id="31" name="TextBox 30"/>
          <p:cNvSpPr txBox="1"/>
          <p:nvPr/>
        </p:nvSpPr>
        <p:spPr>
          <a:xfrm>
            <a:off x="8115300" y="2616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Public verifiability + Etherscan integration for tx audit.</a:t>
            </a:r>
          </a:p>
        </p:txBody>
      </p:sp>
      <p:sp>
        <p:nvSpPr>
          <p:cNvPr id="32" name="TextBox 31"/>
          <p:cNvSpPr txBox="1"/>
          <p:nvPr/>
        </p:nvSpPr>
        <p:spPr>
          <a:xfrm>
            <a:off x="8115300" y="3302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TheGraph event indexer</a:t>
            </a:r>
          </a:p>
        </p:txBody>
      </p:sp>
      <p:sp>
        <p:nvSpPr>
          <p:cNvPr id="33" name="TextBox 32"/>
          <p:cNvSpPr txBox="1"/>
          <p:nvPr/>
        </p:nvSpPr>
        <p:spPr>
          <a:xfrm>
            <a:off x="8115300" y="3568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Scalable historical queries and real-time dashboards.</a:t>
            </a:r>
          </a:p>
        </p:txBody>
      </p:sp>
      <p:sp>
        <p:nvSpPr>
          <p:cNvPr id="34" name="TextBox 33"/>
          <p:cNvSpPr txBox="1"/>
          <p:nvPr/>
        </p:nvSpPr>
        <p:spPr>
          <a:xfrm>
            <a:off x="8115300" y="42545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Multi-sig deployer</a:t>
            </a:r>
          </a:p>
        </p:txBody>
      </p:sp>
      <p:sp>
        <p:nvSpPr>
          <p:cNvPr id="35" name="TextBox 34"/>
          <p:cNvSpPr txBox="1"/>
          <p:nvPr/>
        </p:nvSpPr>
        <p:spPr>
          <a:xfrm>
            <a:off x="8115300" y="45212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Decentralise write authority across hospital stakeholders.</a:t>
            </a:r>
          </a:p>
        </p:txBody>
      </p:sp>
      <p:sp>
        <p:nvSpPr>
          <p:cNvPr id="36" name="TextBox 35"/>
          <p:cNvSpPr txBox="1"/>
          <p:nvPr/>
        </p:nvSpPr>
        <p:spPr>
          <a:xfrm>
            <a:off x="8115300" y="5207000"/>
            <a:ext cx="3048000" cy="254000"/>
          </a:xfrm>
          <a:prstGeom prst="rect">
            <a:avLst/>
          </a:prstGeom>
          <a:noFill/>
        </p:spPr>
        <p:txBody>
          <a:bodyPr wrap="square" lIns="0" rIns="0" tIns="0" bIns="0" anchor="t">
            <a:spAutoFit/>
          </a:bodyPr>
          <a:lstStyle/>
          <a:p>
            <a:pPr algn="l">
              <a:lnSpc>
                <a:spcPct val="115000"/>
              </a:lnSpc>
            </a:pPr>
            <a:r>
              <a:rPr sz="1200" b="1" i="0">
                <a:solidFill>
                  <a:srgbClr val="0D1B2A"/>
                </a:solidFill>
                <a:latin typeface="DM Sans"/>
              </a:rPr>
              <a:t>Expand Jest + add E2E</a:t>
            </a:r>
          </a:p>
        </p:txBody>
      </p:sp>
      <p:sp>
        <p:nvSpPr>
          <p:cNvPr id="37" name="TextBox 36"/>
          <p:cNvSpPr txBox="1"/>
          <p:nvPr/>
        </p:nvSpPr>
        <p:spPr>
          <a:xfrm>
            <a:off x="8115300" y="5473700"/>
            <a:ext cx="3048000" cy="698500"/>
          </a:xfrm>
          <a:prstGeom prst="rect">
            <a:avLst/>
          </a:prstGeom>
          <a:noFill/>
        </p:spPr>
        <p:txBody>
          <a:bodyPr wrap="square" lIns="0" rIns="0" tIns="0" bIns="0" anchor="t">
            <a:spAutoFit/>
          </a:bodyPr>
          <a:lstStyle/>
          <a:p>
            <a:pPr algn="l">
              <a:lnSpc>
                <a:spcPct val="140000"/>
              </a:lnSpc>
            </a:pPr>
            <a:r>
              <a:rPr sz="1000" b="0" i="0">
                <a:solidFill>
                  <a:srgbClr val="5A6A7E"/>
                </a:solidFill>
                <a:latin typeface="DM Sans"/>
              </a:rPr>
              <a:t>Coverage beyond the 3 coursework suites — Cypress for the React flows.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11 — SCOPE OF CONTRIBUTION</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Baseline vs Extension</a:t>
            </a:r>
          </a:p>
        </p:txBody>
      </p:sp>
      <p:sp>
        <p:nvSpPr>
          <p:cNvPr id="5" name="Rectangle 4"/>
          <p:cNvSpPr/>
          <p:nvPr/>
        </p:nvSpPr>
        <p:spPr>
          <a:xfrm>
            <a:off x="762000" y="1778000"/>
            <a:ext cx="5207000" cy="50800"/>
          </a:xfrm>
          <a:prstGeom prst="rect">
            <a:avLst/>
          </a:prstGeom>
          <a:solidFill>
            <a:srgbClr val="5A6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62000" y="1828800"/>
            <a:ext cx="5207000" cy="3556000"/>
          </a:xfrm>
          <a:prstGeom prst="roundRect">
            <a:avLst>
              <a:gd name="adj" fmla="val 3000"/>
            </a:avLst>
          </a:prstGeom>
          <a:solidFill>
            <a:srgbClr val="F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968500"/>
            <a:ext cx="4826000" cy="279400"/>
          </a:xfrm>
          <a:prstGeom prst="rect">
            <a:avLst/>
          </a:prstGeom>
          <a:noFill/>
        </p:spPr>
        <p:txBody>
          <a:bodyPr wrap="square" lIns="0" rIns="0" tIns="0" bIns="0" anchor="t">
            <a:spAutoFit/>
          </a:bodyPr>
          <a:lstStyle/>
          <a:p>
            <a:pPr algn="l">
              <a:lnSpc>
                <a:spcPct val="115000"/>
              </a:lnSpc>
            </a:pPr>
            <a:r>
              <a:rPr sz="1300" b="1" i="0" spc="200">
                <a:solidFill>
                  <a:srgbClr val="5A6A7E"/>
                </a:solidFill>
                <a:latin typeface="DM Sans"/>
              </a:rPr>
              <a:t>MASTER BRANCH — BASELINE</a:t>
            </a:r>
          </a:p>
        </p:txBody>
      </p:sp>
      <p:sp>
        <p:nvSpPr>
          <p:cNvPr id="8" name="TextBox 7"/>
          <p:cNvSpPr txBox="1"/>
          <p:nvPr/>
        </p:nvSpPr>
        <p:spPr>
          <a:xfrm>
            <a:off x="952500" y="2349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Node.js + Express API</a:t>
            </a:r>
          </a:p>
        </p:txBody>
      </p:sp>
      <p:sp>
        <p:nvSpPr>
          <p:cNvPr id="9" name="TextBox 8"/>
          <p:cNvSpPr txBox="1"/>
          <p:nvPr/>
        </p:nvSpPr>
        <p:spPr>
          <a:xfrm>
            <a:off x="952500" y="2565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Auth, appointments, bills — REST only.</a:t>
            </a:r>
          </a:p>
        </p:txBody>
      </p:sp>
      <p:sp>
        <p:nvSpPr>
          <p:cNvPr id="10" name="TextBox 9"/>
          <p:cNvSpPr txBox="1"/>
          <p:nvPr/>
        </p:nvSpPr>
        <p:spPr>
          <a:xfrm>
            <a:off x="952500" y="2857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MongoDB + Mongoose</a:t>
            </a:r>
          </a:p>
        </p:txBody>
      </p:sp>
      <p:sp>
        <p:nvSpPr>
          <p:cNvPr id="11" name="TextBox 10"/>
          <p:cNvSpPr txBox="1"/>
          <p:nvPr/>
        </p:nvSpPr>
        <p:spPr>
          <a:xfrm>
            <a:off x="952500" y="3073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Schemas for User, Appointment, Bill, Prescription.</a:t>
            </a:r>
          </a:p>
        </p:txBody>
      </p:sp>
      <p:sp>
        <p:nvSpPr>
          <p:cNvPr id="12" name="TextBox 11"/>
          <p:cNvSpPr txBox="1"/>
          <p:nvPr/>
        </p:nvSpPr>
        <p:spPr>
          <a:xfrm>
            <a:off x="952500" y="3365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JWT + bcrypt auth</a:t>
            </a:r>
          </a:p>
        </p:txBody>
      </p:sp>
      <p:sp>
        <p:nvSpPr>
          <p:cNvPr id="13" name="TextBox 12"/>
          <p:cNvSpPr txBox="1"/>
          <p:nvPr/>
        </p:nvSpPr>
        <p:spPr>
          <a:xfrm>
            <a:off x="952500" y="3581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Role-agnostic, no doctor-approval flow.</a:t>
            </a:r>
          </a:p>
        </p:txBody>
      </p:sp>
      <p:sp>
        <p:nvSpPr>
          <p:cNvPr id="14" name="TextBox 13"/>
          <p:cNvSpPr txBox="1"/>
          <p:nvPr/>
        </p:nvSpPr>
        <p:spPr>
          <a:xfrm>
            <a:off x="952500" y="3873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Swagger docs + seed script</a:t>
            </a:r>
          </a:p>
        </p:txBody>
      </p:sp>
      <p:sp>
        <p:nvSpPr>
          <p:cNvPr id="15" name="TextBox 14"/>
          <p:cNvSpPr txBox="1"/>
          <p:nvPr/>
        </p:nvSpPr>
        <p:spPr>
          <a:xfrm>
            <a:off x="952500" y="4089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Basic Postman-style API surface.</a:t>
            </a:r>
          </a:p>
        </p:txBody>
      </p:sp>
      <p:sp>
        <p:nvSpPr>
          <p:cNvPr id="16" name="TextBox 15"/>
          <p:cNvSpPr txBox="1"/>
          <p:nvPr/>
        </p:nvSpPr>
        <p:spPr>
          <a:xfrm>
            <a:off x="952500" y="4381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No frontend</a:t>
            </a:r>
          </a:p>
        </p:txBody>
      </p:sp>
      <p:sp>
        <p:nvSpPr>
          <p:cNvPr id="17" name="TextBox 16"/>
          <p:cNvSpPr txBox="1"/>
          <p:nvPr/>
        </p:nvSpPr>
        <p:spPr>
          <a:xfrm>
            <a:off x="952500" y="4597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Backend-only — no UI, no dashboards.</a:t>
            </a:r>
          </a:p>
        </p:txBody>
      </p:sp>
      <p:sp>
        <p:nvSpPr>
          <p:cNvPr id="18" name="TextBox 17"/>
          <p:cNvSpPr txBox="1"/>
          <p:nvPr/>
        </p:nvSpPr>
        <p:spPr>
          <a:xfrm>
            <a:off x="952500" y="4889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No blockchain</a:t>
            </a:r>
          </a:p>
        </p:txBody>
      </p:sp>
      <p:sp>
        <p:nvSpPr>
          <p:cNvPr id="19" name="TextBox 18"/>
          <p:cNvSpPr txBox="1"/>
          <p:nvPr/>
        </p:nvSpPr>
        <p:spPr>
          <a:xfrm>
            <a:off x="952500" y="5105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All trust on the API layer.</a:t>
            </a:r>
          </a:p>
        </p:txBody>
      </p:sp>
      <p:sp>
        <p:nvSpPr>
          <p:cNvPr id="20" name="Rectangle 19"/>
          <p:cNvSpPr/>
          <p:nvPr/>
        </p:nvSpPr>
        <p:spPr>
          <a:xfrm>
            <a:off x="6223000" y="1778000"/>
            <a:ext cx="5207000" cy="508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3000" y="1828800"/>
            <a:ext cx="5207000" cy="3556000"/>
          </a:xfrm>
          <a:prstGeom prst="roundRect">
            <a:avLst>
              <a:gd name="adj" fmla="val 3000"/>
            </a:avLst>
          </a:prstGeom>
          <a:solidFill>
            <a:srgbClr val="EA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3500" y="1968500"/>
            <a:ext cx="4826000" cy="279400"/>
          </a:xfrm>
          <a:prstGeom prst="rect">
            <a:avLst/>
          </a:prstGeom>
          <a:noFill/>
        </p:spPr>
        <p:txBody>
          <a:bodyPr wrap="square" lIns="0" rIns="0" tIns="0" bIns="0" anchor="t">
            <a:spAutoFit/>
          </a:bodyPr>
          <a:lstStyle/>
          <a:p>
            <a:pPr algn="l">
              <a:lnSpc>
                <a:spcPct val="115000"/>
              </a:lnSpc>
            </a:pPr>
            <a:r>
              <a:rPr sz="1300" b="1" i="0" spc="200">
                <a:solidFill>
                  <a:srgbClr val="1A8FC2"/>
                </a:solidFill>
                <a:latin typeface="DM Sans"/>
              </a:rPr>
              <a:t>MAIN BRANCH — SUBMISSION</a:t>
            </a:r>
          </a:p>
        </p:txBody>
      </p:sp>
      <p:sp>
        <p:nvSpPr>
          <p:cNvPr id="23" name="TextBox 22"/>
          <p:cNvSpPr txBox="1"/>
          <p:nvPr/>
        </p:nvSpPr>
        <p:spPr>
          <a:xfrm>
            <a:off x="6413500" y="2349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React 19 SPA</a:t>
            </a:r>
          </a:p>
        </p:txBody>
      </p:sp>
      <p:sp>
        <p:nvSpPr>
          <p:cNvPr id="24" name="TextBox 23"/>
          <p:cNvSpPr txBox="1"/>
          <p:nvPr/>
        </p:nvSpPr>
        <p:spPr>
          <a:xfrm>
            <a:off x="6413500" y="2565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Role-based dashboards for admin / doctor / patient / receptionist.</a:t>
            </a:r>
          </a:p>
        </p:txBody>
      </p:sp>
      <p:sp>
        <p:nvSpPr>
          <p:cNvPr id="25" name="TextBox 24"/>
          <p:cNvSpPr txBox="1"/>
          <p:nvPr/>
        </p:nvSpPr>
        <p:spPr>
          <a:xfrm>
            <a:off x="6413500" y="2857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HospitalRecords.sol</a:t>
            </a:r>
          </a:p>
        </p:txBody>
      </p:sp>
      <p:sp>
        <p:nvSpPr>
          <p:cNvPr id="26" name="TextBox 25"/>
          <p:cNvSpPr txBox="1"/>
          <p:nvPr/>
        </p:nvSpPr>
        <p:spPr>
          <a:xfrm>
            <a:off x="6413500" y="3073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Solidity 0.8.19 contract — 4 structs, payBillOnChain payable.</a:t>
            </a:r>
          </a:p>
        </p:txBody>
      </p:sp>
      <p:sp>
        <p:nvSpPr>
          <p:cNvPr id="27" name="TextBox 26"/>
          <p:cNvSpPr txBox="1"/>
          <p:nvPr/>
        </p:nvSpPr>
        <p:spPr>
          <a:xfrm>
            <a:off x="6413500" y="3365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web3.js + Ganache pipeline</a:t>
            </a:r>
          </a:p>
        </p:txBody>
      </p:sp>
      <p:sp>
        <p:nvSpPr>
          <p:cNvPr id="28" name="TextBox 27"/>
          <p:cNvSpPr txBox="1"/>
          <p:nvPr/>
        </p:nvSpPr>
        <p:spPr>
          <a:xfrm>
            <a:off x="6413500" y="3581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Every mutating write mirrored on-chain; tx hash persisted to Mongo.</a:t>
            </a:r>
          </a:p>
        </p:txBody>
      </p:sp>
      <p:sp>
        <p:nvSpPr>
          <p:cNvPr id="29" name="TextBox 28"/>
          <p:cNvSpPr txBox="1"/>
          <p:nvPr/>
        </p:nvSpPr>
        <p:spPr>
          <a:xfrm>
            <a:off x="6413500" y="3873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MetaMask integration</a:t>
            </a:r>
          </a:p>
        </p:txBody>
      </p:sp>
      <p:sp>
        <p:nvSpPr>
          <p:cNvPr id="30" name="TextBox 29"/>
          <p:cNvSpPr txBox="1"/>
          <p:nvPr/>
        </p:nvSpPr>
        <p:spPr>
          <a:xfrm>
            <a:off x="6413500" y="4089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Fully decentralised patient payments via window.ethereum.</a:t>
            </a:r>
          </a:p>
        </p:txBody>
      </p:sp>
      <p:sp>
        <p:nvSpPr>
          <p:cNvPr id="31" name="TextBox 30"/>
          <p:cNvSpPr txBox="1"/>
          <p:nvPr/>
        </p:nvSpPr>
        <p:spPr>
          <a:xfrm>
            <a:off x="6413500" y="4381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recharts analytics + jsPDF</a:t>
            </a:r>
          </a:p>
        </p:txBody>
      </p:sp>
      <p:sp>
        <p:nvSpPr>
          <p:cNvPr id="32" name="TextBox 31"/>
          <p:cNvSpPr txBox="1"/>
          <p:nvPr/>
        </p:nvSpPr>
        <p:spPr>
          <a:xfrm>
            <a:off x="6413500" y="4597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Admin charts, revenue trends, exportable bill/rx PDFs.</a:t>
            </a:r>
          </a:p>
        </p:txBody>
      </p:sp>
      <p:sp>
        <p:nvSpPr>
          <p:cNvPr id="33" name="TextBox 32"/>
          <p:cNvSpPr txBox="1"/>
          <p:nvPr/>
        </p:nvSpPr>
        <p:spPr>
          <a:xfrm>
            <a:off x="6413500" y="4889500"/>
            <a:ext cx="4826000" cy="203200"/>
          </a:xfrm>
          <a:prstGeom prst="rect">
            <a:avLst/>
          </a:prstGeom>
          <a:noFill/>
        </p:spPr>
        <p:txBody>
          <a:bodyPr wrap="square" lIns="0" rIns="0" tIns="0" bIns="0" anchor="t">
            <a:spAutoFit/>
          </a:bodyPr>
          <a:lstStyle/>
          <a:p>
            <a:pPr algn="l">
              <a:lnSpc>
                <a:spcPct val="115000"/>
              </a:lnSpc>
            </a:pPr>
            <a:r>
              <a:rPr sz="1100" b="1" i="0">
                <a:solidFill>
                  <a:srgbClr val="0D1B2A"/>
                </a:solidFill>
                <a:latin typeface="DM Sans"/>
              </a:rPr>
              <a:t>Audit log, notifications, tests</a:t>
            </a:r>
          </a:p>
        </p:txBody>
      </p:sp>
      <p:sp>
        <p:nvSpPr>
          <p:cNvPr id="34" name="TextBox 33"/>
          <p:cNvSpPr txBox="1"/>
          <p:nvPr/>
        </p:nvSpPr>
        <p:spPr>
          <a:xfrm>
            <a:off x="6413500" y="5105400"/>
            <a:ext cx="4826000" cy="317500"/>
          </a:xfrm>
          <a:prstGeom prst="rect">
            <a:avLst/>
          </a:prstGeom>
          <a:noFill/>
        </p:spPr>
        <p:txBody>
          <a:bodyPr wrap="square" lIns="0" rIns="0" tIns="0" bIns="0" anchor="t">
            <a:spAutoFit/>
          </a:bodyPr>
          <a:lstStyle/>
          <a:p>
            <a:pPr algn="l">
              <a:lnSpc>
                <a:spcPct val="130000"/>
              </a:lnSpc>
            </a:pPr>
            <a:r>
              <a:rPr sz="900" b="0" i="0">
                <a:solidFill>
                  <a:srgbClr val="5A6A7E"/>
                </a:solidFill>
                <a:latin typeface="DM Sans"/>
              </a:rPr>
              <a:t>Mutation middleware, bell polling, Jest suites, RBAC fixes.</a:t>
            </a:r>
          </a:p>
        </p:txBody>
      </p:sp>
      <p:sp>
        <p:nvSpPr>
          <p:cNvPr id="35" name="Rounded Rectangle 34"/>
          <p:cNvSpPr/>
          <p:nvPr/>
        </p:nvSpPr>
        <p:spPr>
          <a:xfrm>
            <a:off x="762000" y="5588000"/>
            <a:ext cx="10667969" cy="571500"/>
          </a:xfrm>
          <a:prstGeom prst="roundRect">
            <a:avLst>
              <a:gd name="adj" fmla="val 4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9000" y="5664200"/>
            <a:ext cx="10413969" cy="177800"/>
          </a:xfrm>
          <a:prstGeom prst="rect">
            <a:avLst/>
          </a:prstGeom>
          <a:noFill/>
        </p:spPr>
        <p:txBody>
          <a:bodyPr wrap="square" lIns="0" rIns="0" tIns="0" bIns="0" anchor="t">
            <a:spAutoFit/>
          </a:bodyPr>
          <a:lstStyle/>
          <a:p>
            <a:pPr algn="l">
              <a:lnSpc>
                <a:spcPct val="115000"/>
              </a:lnSpc>
            </a:pPr>
            <a:r>
              <a:rPr sz="900" b="1" i="0" spc="200">
                <a:solidFill>
                  <a:srgbClr val="1A8FC2"/>
                </a:solidFill>
                <a:latin typeface="DM Sans"/>
              </a:rPr>
              <a:t>REPO LINKS</a:t>
            </a:r>
          </a:p>
        </p:txBody>
      </p:sp>
      <p:sp>
        <p:nvSpPr>
          <p:cNvPr id="37" name="TextBox 36"/>
          <p:cNvSpPr txBox="1"/>
          <p:nvPr/>
        </p:nvSpPr>
        <p:spPr>
          <a:xfrm>
            <a:off x="889000" y="5842000"/>
            <a:ext cx="10413969" cy="279400"/>
          </a:xfrm>
          <a:prstGeom prst="rect">
            <a:avLst/>
          </a:prstGeom>
          <a:noFill/>
        </p:spPr>
        <p:txBody>
          <a:bodyPr wrap="square" lIns="0" rIns="0" tIns="0" bIns="0" anchor="t">
            <a:spAutoFit/>
          </a:bodyPr>
          <a:lstStyle/>
          <a:p>
            <a:pPr algn="l">
              <a:lnSpc>
                <a:spcPct val="140000"/>
              </a:lnSpc>
            </a:pPr>
            <a:r>
              <a:rPr sz="800" b="0" i="0">
                <a:solidFill>
                  <a:srgbClr val="0D1B2A"/>
                </a:solidFill>
                <a:latin typeface="DM Mono"/>
              </a:rPr>
              <a:t>Submission (main):  github.com/rahmane001/hospital-system/tree/main</a:t>
            </a:r>
          </a:p>
          <a:p>
            <a:pPr algn="l">
              <a:lnSpc>
                <a:spcPct val="140000"/>
              </a:lnSpc>
            </a:pPr>
            <a:r>
              <a:rPr sz="800" b="0" i="0">
                <a:solidFill>
                  <a:srgbClr val="0D1B2A"/>
                </a:solidFill>
                <a:latin typeface="DM Mono"/>
              </a:rPr>
              <a:t>Baseline (master): github.com/rahmane001/hospital-system/tree/master   ·   Diff: github.com/rahmane001/hospital-system/compare/master...main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651000"/>
            <a:ext cx="12191969" cy="215900"/>
          </a:xfrm>
          <a:prstGeom prst="rect">
            <a:avLst/>
          </a:prstGeom>
          <a:noFill/>
        </p:spPr>
        <p:txBody>
          <a:bodyPr wrap="square" lIns="0" rIns="0" tIns="0" bIns="0" anchor="t">
            <a:spAutoFit/>
          </a:bodyPr>
          <a:lstStyle/>
          <a:p>
            <a:pPr algn="ctr">
              <a:lnSpc>
                <a:spcPct val="115000"/>
              </a:lnSpc>
            </a:pPr>
            <a:r>
              <a:rPr sz="1200" b="1" i="0" spc="240">
                <a:solidFill>
                  <a:srgbClr val="6CB8DA"/>
                </a:solidFill>
                <a:latin typeface="DM Sans"/>
              </a:rPr>
              <a:t>12 — DEMONSTRATION</a:t>
            </a:r>
          </a:p>
        </p:txBody>
      </p:sp>
      <p:sp>
        <p:nvSpPr>
          <p:cNvPr id="4" name="TextBox 3"/>
          <p:cNvSpPr txBox="1"/>
          <p:nvPr/>
        </p:nvSpPr>
        <p:spPr>
          <a:xfrm>
            <a:off x="0" y="2095500"/>
            <a:ext cx="12191969" cy="762000"/>
          </a:xfrm>
          <a:prstGeom prst="rect">
            <a:avLst/>
          </a:prstGeom>
          <a:noFill/>
        </p:spPr>
        <p:txBody>
          <a:bodyPr wrap="square" lIns="0" rIns="0" tIns="0" bIns="0" anchor="t">
            <a:spAutoFit/>
          </a:bodyPr>
          <a:lstStyle/>
          <a:p>
            <a:pPr algn="ctr">
              <a:lnSpc>
                <a:spcPct val="115000"/>
              </a:lnSpc>
            </a:pPr>
            <a:r>
              <a:rPr sz="4000" b="1" i="0">
                <a:solidFill>
                  <a:srgbClr val="F9FAFB"/>
                </a:solidFill>
                <a:latin typeface="DM Sans"/>
              </a:rPr>
              <a:t>Video Demonstration</a:t>
            </a:r>
          </a:p>
        </p:txBody>
      </p:sp>
      <p:sp>
        <p:nvSpPr>
          <p:cNvPr id="5" name="Rounded Rectangle 4"/>
          <p:cNvSpPr/>
          <p:nvPr/>
        </p:nvSpPr>
        <p:spPr>
          <a:xfrm>
            <a:off x="2285984" y="3365500"/>
            <a:ext cx="7620000" cy="1397000"/>
          </a:xfrm>
          <a:prstGeom prst="roundRect">
            <a:avLst>
              <a:gd name="adj" fmla="val 8000"/>
            </a:avLst>
          </a:prstGeom>
          <a:solidFill>
            <a:srgbClr val="182A42"/>
          </a:solidFill>
          <a:ln w="25400">
            <a:solidFill>
              <a:srgbClr val="244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5984" y="3619500"/>
            <a:ext cx="7620000" cy="228600"/>
          </a:xfrm>
          <a:prstGeom prst="rect">
            <a:avLst/>
          </a:prstGeom>
          <a:noFill/>
        </p:spPr>
        <p:txBody>
          <a:bodyPr wrap="square" lIns="0" rIns="0" tIns="0" bIns="0" anchor="t">
            <a:spAutoFit/>
          </a:bodyPr>
          <a:lstStyle/>
          <a:p>
            <a:pPr algn="ctr">
              <a:lnSpc>
                <a:spcPct val="115000"/>
              </a:lnSpc>
            </a:pPr>
            <a:r>
              <a:rPr sz="1200" b="1" i="0" spc="200">
                <a:solidFill>
                  <a:srgbClr val="8A94A2"/>
                </a:solidFill>
                <a:latin typeface="DM Sans"/>
              </a:rPr>
              <a:t>MS STREAM RECORDING</a:t>
            </a:r>
          </a:p>
        </p:txBody>
      </p:sp>
      <p:sp>
        <p:nvSpPr>
          <p:cNvPr id="7" name="TextBox 6"/>
          <p:cNvSpPr txBox="1"/>
          <p:nvPr/>
        </p:nvSpPr>
        <p:spPr>
          <a:xfrm>
            <a:off x="2539984" y="4000500"/>
            <a:ext cx="7112000" cy="508000"/>
          </a:xfrm>
          <a:prstGeom prst="rect">
            <a:avLst/>
          </a:prstGeom>
          <a:noFill/>
        </p:spPr>
        <p:txBody>
          <a:bodyPr wrap="square" lIns="0" rIns="0" tIns="0" bIns="0" anchor="t">
            <a:spAutoFit/>
          </a:bodyPr>
          <a:lstStyle/>
          <a:p>
            <a:pPr algn="ctr">
              <a:lnSpc>
                <a:spcPct val="115000"/>
              </a:lnSpc>
            </a:pPr>
            <a:r>
              <a:rPr sz="1600" b="0" i="0">
                <a:solidFill>
                  <a:srgbClr val="6CB8DA"/>
                </a:solidFill>
                <a:latin typeface="DM Mono"/>
              </a:rPr>
              <a:t>[ Insert MS Stream link here ]</a:t>
            </a:r>
          </a:p>
        </p:txBody>
      </p:sp>
      <p:sp>
        <p:nvSpPr>
          <p:cNvPr id="8" name="TextBox 7"/>
          <p:cNvSpPr txBox="1"/>
          <p:nvPr/>
        </p:nvSpPr>
        <p:spPr>
          <a:xfrm>
            <a:off x="1270000" y="5143500"/>
            <a:ext cx="9651969" cy="825500"/>
          </a:xfrm>
          <a:prstGeom prst="rect">
            <a:avLst/>
          </a:prstGeom>
          <a:noFill/>
        </p:spPr>
        <p:txBody>
          <a:bodyPr wrap="square" lIns="0" rIns="0" tIns="0" bIns="0" anchor="t">
            <a:spAutoFit/>
          </a:bodyPr>
          <a:lstStyle/>
          <a:p>
            <a:pPr algn="ctr">
              <a:lnSpc>
                <a:spcPct val="160000"/>
              </a:lnSpc>
            </a:pPr>
            <a:r>
              <a:rPr sz="1200" b="0" i="0">
                <a:solidFill>
                  <a:srgbClr val="8A94A2"/>
                </a:solidFill>
                <a:latin typeface="DM Sans"/>
              </a:rPr>
              <a:t>Access has been granted to all lab tutors.</a:t>
            </a:r>
          </a:p>
          <a:p>
            <a:pPr algn="ctr">
              <a:lnSpc>
                <a:spcPct val="160000"/>
              </a:lnSpc>
            </a:pPr>
            <a:r>
              <a:rPr sz="1200" b="0" i="0">
                <a:solidFill>
                  <a:srgbClr val="8A94A2"/>
                </a:solidFill>
                <a:latin typeface="DM Sans"/>
              </a:rPr>
              <a:t>The recording covers login as each role · appointment booking · on-chain transaction logging · MetaMask bill payment · blockchain verification.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635000"/>
            <a:ext cx="6350000" cy="215900"/>
          </a:xfrm>
          <a:prstGeom prst="rect">
            <a:avLst/>
          </a:prstGeom>
          <a:noFill/>
        </p:spPr>
        <p:txBody>
          <a:bodyPr wrap="square" lIns="0" rIns="0" tIns="0" bIns="0" anchor="t">
            <a:spAutoFit/>
          </a:bodyPr>
          <a:lstStyle/>
          <a:p>
            <a:pPr algn="l">
              <a:lnSpc>
                <a:spcPct val="115000"/>
              </a:lnSpc>
            </a:pPr>
            <a:r>
              <a:rPr sz="1200" b="1" i="0" spc="240">
                <a:solidFill>
                  <a:srgbClr val="1A8FC2"/>
                </a:solidFill>
                <a:latin typeface="DM Sans"/>
              </a:rPr>
              <a:t>13 — REFERENCES</a:t>
            </a:r>
          </a:p>
        </p:txBody>
      </p:sp>
      <p:sp>
        <p:nvSpPr>
          <p:cNvPr id="4" name="TextBox 3"/>
          <p:cNvSpPr txBox="1"/>
          <p:nvPr/>
        </p:nvSpPr>
        <p:spPr>
          <a:xfrm>
            <a:off x="762000" y="850900"/>
            <a:ext cx="10668000" cy="571500"/>
          </a:xfrm>
          <a:prstGeom prst="rect">
            <a:avLst/>
          </a:prstGeom>
          <a:noFill/>
        </p:spPr>
        <p:txBody>
          <a:bodyPr wrap="square" lIns="0" rIns="0" tIns="0" bIns="0" anchor="t">
            <a:spAutoFit/>
          </a:bodyPr>
          <a:lstStyle/>
          <a:p>
            <a:pPr algn="l">
              <a:lnSpc>
                <a:spcPct val="105000"/>
              </a:lnSpc>
            </a:pPr>
            <a:r>
              <a:rPr sz="3600" b="1" i="0">
                <a:solidFill>
                  <a:srgbClr val="0D1B2A"/>
                </a:solidFill>
                <a:latin typeface="DM Sans"/>
              </a:rPr>
              <a:t>References</a:t>
            </a:r>
          </a:p>
        </p:txBody>
      </p:sp>
      <p:sp>
        <p:nvSpPr>
          <p:cNvPr id="5" name="Rectangle 4"/>
          <p:cNvSpPr/>
          <p:nvPr/>
        </p:nvSpPr>
        <p:spPr>
          <a:xfrm>
            <a:off x="952500" y="17780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8500" y="18415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[1]</a:t>
            </a:r>
          </a:p>
        </p:txBody>
      </p:sp>
      <p:sp>
        <p:nvSpPr>
          <p:cNvPr id="7" name="TextBox 6"/>
          <p:cNvSpPr txBox="1"/>
          <p:nvPr/>
        </p:nvSpPr>
        <p:spPr>
          <a:xfrm>
            <a:off x="1130300" y="17526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Antonopoulos, A.M. and Wood, G. (2018) </a:t>
            </a:r>
            <a:r>
              <a:rPr sz="1100" b="0" i="1">
                <a:solidFill>
                  <a:srgbClr val="0D1B2A"/>
                </a:solidFill>
                <a:latin typeface="DM Sans"/>
              </a:rPr>
              <a:t>Mastering Ethereum: Building Smart Contracts and DApps.</a:t>
            </a:r>
            <a:r>
              <a:rPr sz="1100" b="0" i="0">
                <a:solidFill>
                  <a:srgbClr val="0D1B2A"/>
                </a:solidFill>
                <a:latin typeface="DM Sans"/>
              </a:rPr>
              <a:t> Sebastopol, CA: O'Reilly Media.</a:t>
            </a:r>
          </a:p>
        </p:txBody>
      </p:sp>
      <p:sp>
        <p:nvSpPr>
          <p:cNvPr id="8" name="Rectangle 7"/>
          <p:cNvSpPr/>
          <p:nvPr/>
        </p:nvSpPr>
        <p:spPr>
          <a:xfrm>
            <a:off x="952500" y="23368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500" y="24003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[2]</a:t>
            </a:r>
          </a:p>
        </p:txBody>
      </p:sp>
      <p:sp>
        <p:nvSpPr>
          <p:cNvPr id="10" name="TextBox 9"/>
          <p:cNvSpPr txBox="1"/>
          <p:nvPr/>
        </p:nvSpPr>
        <p:spPr>
          <a:xfrm>
            <a:off x="1130300" y="23114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Tanenbaum, A.S. and Van Steen, M. (2017) </a:t>
            </a:r>
            <a:r>
              <a:rPr sz="1100" b="0" i="1">
                <a:solidFill>
                  <a:srgbClr val="0D1B2A"/>
                </a:solidFill>
                <a:latin typeface="DM Sans"/>
              </a:rPr>
              <a:t>Distributed Systems: Principles and Paradigms.</a:t>
            </a:r>
            <a:r>
              <a:rPr sz="1100" b="0" i="0">
                <a:solidFill>
                  <a:srgbClr val="0D1B2A"/>
                </a:solidFill>
                <a:latin typeface="DM Sans"/>
              </a:rPr>
              <a:t> 3rd edn. CreateSpace.</a:t>
            </a:r>
          </a:p>
        </p:txBody>
      </p:sp>
      <p:sp>
        <p:nvSpPr>
          <p:cNvPr id="11" name="Rectangle 10"/>
          <p:cNvSpPr/>
          <p:nvPr/>
        </p:nvSpPr>
        <p:spPr>
          <a:xfrm>
            <a:off x="952500" y="28956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29591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[3]</a:t>
            </a:r>
          </a:p>
        </p:txBody>
      </p:sp>
      <p:sp>
        <p:nvSpPr>
          <p:cNvPr id="13" name="TextBox 12"/>
          <p:cNvSpPr txBox="1"/>
          <p:nvPr/>
        </p:nvSpPr>
        <p:spPr>
          <a:xfrm>
            <a:off x="1130300" y="28702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Wood, G. (2014) </a:t>
            </a:r>
            <a:r>
              <a:rPr sz="1100" b="0" i="1">
                <a:solidFill>
                  <a:srgbClr val="0D1B2A"/>
                </a:solidFill>
                <a:latin typeface="DM Sans"/>
              </a:rPr>
              <a:t>Ethereum: A Secure Decentralised Generalised Transaction Ledger (Yellow Paper).</a:t>
            </a:r>
            <a:r>
              <a:rPr sz="1100" b="0" i="0">
                <a:solidFill>
                  <a:srgbClr val="0D1B2A"/>
                </a:solidFill>
                <a:latin typeface="DM Sans"/>
              </a:rPr>
              <a:t> Available at: https://ethereum.github.io/yellowpaper/paper.pdf [Accessed: April 2026].</a:t>
            </a:r>
          </a:p>
        </p:txBody>
      </p:sp>
      <p:sp>
        <p:nvSpPr>
          <p:cNvPr id="14" name="Rectangle 13"/>
          <p:cNvSpPr/>
          <p:nvPr/>
        </p:nvSpPr>
        <p:spPr>
          <a:xfrm>
            <a:off x="952500" y="34544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8500" y="35179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[4]</a:t>
            </a:r>
          </a:p>
        </p:txBody>
      </p:sp>
      <p:sp>
        <p:nvSpPr>
          <p:cNvPr id="16" name="TextBox 15"/>
          <p:cNvSpPr txBox="1"/>
          <p:nvPr/>
        </p:nvSpPr>
        <p:spPr>
          <a:xfrm>
            <a:off x="1130300" y="34290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Ethereum Foundation (2024) </a:t>
            </a:r>
            <a:r>
              <a:rPr sz="1100" b="0" i="1">
                <a:solidFill>
                  <a:srgbClr val="0D1B2A"/>
                </a:solidFill>
                <a:latin typeface="DM Sans"/>
              </a:rPr>
              <a:t>Solidity Documentation v0.8.19.</a:t>
            </a:r>
            <a:r>
              <a:rPr sz="1100" b="0" i="0">
                <a:solidFill>
                  <a:srgbClr val="0D1B2A"/>
                </a:solidFill>
                <a:latin typeface="DM Sans"/>
              </a:rPr>
              <a:t> Available at: https://docs.soliditylang.org/en/v0.8.19/ [Accessed: April 2026].</a:t>
            </a:r>
          </a:p>
        </p:txBody>
      </p:sp>
      <p:sp>
        <p:nvSpPr>
          <p:cNvPr id="17" name="Rectangle 16"/>
          <p:cNvSpPr/>
          <p:nvPr/>
        </p:nvSpPr>
        <p:spPr>
          <a:xfrm>
            <a:off x="952500" y="40132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500" y="40767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[5]</a:t>
            </a:r>
          </a:p>
        </p:txBody>
      </p:sp>
      <p:sp>
        <p:nvSpPr>
          <p:cNvPr id="19" name="TextBox 18"/>
          <p:cNvSpPr txBox="1"/>
          <p:nvPr/>
        </p:nvSpPr>
        <p:spPr>
          <a:xfrm>
            <a:off x="1130300" y="39878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Truffle Suite (2024) </a:t>
            </a:r>
            <a:r>
              <a:rPr sz="1100" b="0" i="1">
                <a:solidFill>
                  <a:srgbClr val="0D1B2A"/>
                </a:solidFill>
                <a:latin typeface="DM Sans"/>
              </a:rPr>
              <a:t>Truffle Documentation.</a:t>
            </a:r>
            <a:r>
              <a:rPr sz="1100" b="0" i="0">
                <a:solidFill>
                  <a:srgbClr val="0D1B2A"/>
                </a:solidFill>
                <a:latin typeface="DM Sans"/>
              </a:rPr>
              <a:t> Available at: https://trufflesuite.com/docs/ [Accessed: April 2026].</a:t>
            </a:r>
          </a:p>
        </p:txBody>
      </p:sp>
      <p:sp>
        <p:nvSpPr>
          <p:cNvPr id="20" name="Rectangle 19"/>
          <p:cNvSpPr/>
          <p:nvPr/>
        </p:nvSpPr>
        <p:spPr>
          <a:xfrm>
            <a:off x="952500" y="45720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8500" y="46355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[6]</a:t>
            </a:r>
          </a:p>
        </p:txBody>
      </p:sp>
      <p:sp>
        <p:nvSpPr>
          <p:cNvPr id="22" name="TextBox 21"/>
          <p:cNvSpPr txBox="1"/>
          <p:nvPr/>
        </p:nvSpPr>
        <p:spPr>
          <a:xfrm>
            <a:off x="1130300" y="45466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web3.js Contributors (2024) </a:t>
            </a:r>
            <a:r>
              <a:rPr sz="1100" b="0" i="1">
                <a:solidFill>
                  <a:srgbClr val="0D1B2A"/>
                </a:solidFill>
                <a:latin typeface="DM Sans"/>
              </a:rPr>
              <a:t>web3.js Documentation.</a:t>
            </a:r>
            <a:r>
              <a:rPr sz="1100" b="0" i="0">
                <a:solidFill>
                  <a:srgbClr val="0D1B2A"/>
                </a:solidFill>
                <a:latin typeface="DM Sans"/>
              </a:rPr>
              <a:t> Available at: https://docs.web3js.org/ [Accessed: April 2026].</a:t>
            </a:r>
          </a:p>
        </p:txBody>
      </p:sp>
      <p:sp>
        <p:nvSpPr>
          <p:cNvPr id="23" name="Rectangle 22"/>
          <p:cNvSpPr/>
          <p:nvPr/>
        </p:nvSpPr>
        <p:spPr>
          <a:xfrm>
            <a:off x="952500" y="51308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8500" y="51943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[7]</a:t>
            </a:r>
          </a:p>
        </p:txBody>
      </p:sp>
      <p:sp>
        <p:nvSpPr>
          <p:cNvPr id="25" name="TextBox 24"/>
          <p:cNvSpPr txBox="1"/>
          <p:nvPr/>
        </p:nvSpPr>
        <p:spPr>
          <a:xfrm>
            <a:off x="1130300" y="51054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Nakamoto, S. (2008) 'Bitcoin: A Peer-to-Peer Electronic Cash System.' </a:t>
            </a:r>
            <a:r>
              <a:rPr sz="1100" b="0" i="1">
                <a:solidFill>
                  <a:srgbClr val="0D1B2A"/>
                </a:solidFill>
                <a:latin typeface="DM Sans"/>
              </a:rPr>
              <a:t>bitcoin.org.</a:t>
            </a:r>
            <a:r>
              <a:rPr sz="1100" b="0" i="0">
                <a:solidFill>
                  <a:srgbClr val="0D1B2A"/>
                </a:solidFill>
                <a:latin typeface="DM Sans"/>
              </a:rPr>
              <a:t> Available at: https://bitcoin.org/bitcoin.pdf [Accessed: April 2026].</a:t>
            </a:r>
          </a:p>
        </p:txBody>
      </p:sp>
      <p:sp>
        <p:nvSpPr>
          <p:cNvPr id="26" name="Rectangle 25"/>
          <p:cNvSpPr/>
          <p:nvPr/>
        </p:nvSpPr>
        <p:spPr>
          <a:xfrm>
            <a:off x="952500" y="5689600"/>
            <a:ext cx="25400" cy="393700"/>
          </a:xfrm>
          <a:prstGeom prst="rect">
            <a:avLst/>
          </a:prstGeom>
          <a:solidFill>
            <a:srgbClr val="1A8F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8500" y="5753100"/>
            <a:ext cx="228600" cy="254000"/>
          </a:xfrm>
          <a:prstGeom prst="rect">
            <a:avLst/>
          </a:prstGeom>
          <a:noFill/>
        </p:spPr>
        <p:txBody>
          <a:bodyPr wrap="square" lIns="0" rIns="0" tIns="0" bIns="0" anchor="t">
            <a:spAutoFit/>
          </a:bodyPr>
          <a:lstStyle/>
          <a:p>
            <a:pPr algn="r">
              <a:lnSpc>
                <a:spcPct val="115000"/>
              </a:lnSpc>
            </a:pPr>
            <a:r>
              <a:rPr sz="1000" b="0" i="0">
                <a:solidFill>
                  <a:srgbClr val="5A6A7E"/>
                </a:solidFill>
                <a:latin typeface="DM Sans"/>
              </a:rPr>
              <a:t>[8]</a:t>
            </a:r>
          </a:p>
        </p:txBody>
      </p:sp>
      <p:sp>
        <p:nvSpPr>
          <p:cNvPr id="28" name="TextBox 27"/>
          <p:cNvSpPr txBox="1"/>
          <p:nvPr/>
        </p:nvSpPr>
        <p:spPr>
          <a:xfrm>
            <a:off x="1130300" y="5664200"/>
            <a:ext cx="9906000" cy="520700"/>
          </a:xfrm>
          <a:prstGeom prst="rect">
            <a:avLst/>
          </a:prstGeom>
          <a:noFill/>
        </p:spPr>
        <p:txBody>
          <a:bodyPr wrap="square" lIns="0" rIns="0" tIns="0" bIns="0" anchor="ctr">
            <a:spAutoFit/>
          </a:bodyPr>
          <a:lstStyle/>
          <a:p>
            <a:pPr algn="l">
              <a:lnSpc>
                <a:spcPct val="140000"/>
              </a:lnSpc>
            </a:pPr>
            <a:r>
              <a:rPr sz="1100" b="0" i="0">
                <a:solidFill>
                  <a:srgbClr val="0D1B2A"/>
                </a:solidFill>
                <a:latin typeface="DM Sans"/>
              </a:rPr>
              <a:t>MongoDB, Inc. (2024) </a:t>
            </a:r>
            <a:r>
              <a:rPr sz="1100" b="0" i="1">
                <a:solidFill>
                  <a:srgbClr val="0D1B2A"/>
                </a:solidFill>
                <a:latin typeface="DM Sans"/>
              </a:rPr>
              <a:t>Mongoose ODM Documentation.</a:t>
            </a:r>
            <a:r>
              <a:rPr sz="1100" b="0" i="0">
                <a:solidFill>
                  <a:srgbClr val="0D1B2A"/>
                </a:solidFill>
                <a:latin typeface="DM Sans"/>
              </a:rPr>
              <a:t> Available at: https://mongoosejs.com/docs/ [Accessed: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HMS DApp - Hospital Management on the Blockchain</dc:title>
  <dc:subject>CN6035 Mobile and Distributed Systems Coursework</dc:subject>
  <dc:creator>Esha Rahman</dc:creator>
  <cp:keywords/>
  <dc:description/>
  <cp:lastModifiedBy>Esha Rahman</cp:lastModifiedBy>
  <cp:revision>1</cp:revision>
  <dcterms:created xsi:type="dcterms:W3CDTF">2013-01-27T09:14:16Z</dcterms:created>
  <dcterms:modified xsi:type="dcterms:W3CDTF">2013-01-27T09:15:58Z</dcterms:modified>
  <cp:category/>
</cp:coreProperties>
</file>